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League Spartan" charset="1" panose="00000800000000000000"/>
      <p:regular r:id="rId10"/>
    </p:embeddedFont>
    <p:embeddedFont>
      <p:font typeface="Antic" charset="1" panose="00000000000000000000"/>
      <p:regular r:id="rId11"/>
    </p:embeddedFont>
    <p:embeddedFont>
      <p:font typeface="Antic Bold" charset="1" panose="00000000000000000000"/>
      <p:regular r:id="rId12"/>
    </p:embeddedFont>
    <p:embeddedFont>
      <p:font typeface="Antic Italics" charset="1" panose="00000000000000000000"/>
      <p:regular r:id="rId13"/>
    </p:embeddedFont>
    <p:embeddedFont>
      <p:font typeface="Antic Bold Italics" charset="1" panose="00000000000000000000"/>
      <p:regular r:id="rId14"/>
    </p:embeddedFont>
    <p:embeddedFont>
      <p:font typeface="Open Sans Light" charset="1" panose="020B0306030504020204"/>
      <p:regular r:id="rId15"/>
    </p:embeddedFont>
    <p:embeddedFont>
      <p:font typeface="Open Sans Light Bold" charset="1" panose="020B0806030504020204"/>
      <p:regular r:id="rId16"/>
    </p:embeddedFont>
    <p:embeddedFont>
      <p:font typeface="Open Sans Light Italics" charset="1" panose="020B0306030504020204"/>
      <p:regular r:id="rId17"/>
    </p:embeddedFont>
    <p:embeddedFont>
      <p:font typeface="Open Sans Light Bold Italics" charset="1" panose="020B0806030504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slides/slide1.xml" Type="http://schemas.openxmlformats.org/officeDocument/2006/relationships/slide"/><Relationship Id="rId2" Target="presProps.xml" Type="http://schemas.openxmlformats.org/officeDocument/2006/relationships/presProps"/><Relationship Id="rId20" Target="slides/slide2.xml" Type="http://schemas.openxmlformats.org/officeDocument/2006/relationships/slide"/><Relationship Id="rId21" Target="slides/slide3.xml" Type="http://schemas.openxmlformats.org/officeDocument/2006/relationships/slide"/><Relationship Id="rId22" Target="slides/slide4.xml" Type="http://schemas.openxmlformats.org/officeDocument/2006/relationships/slide"/><Relationship Id="rId23" Target="slides/slide5.xml" Type="http://schemas.openxmlformats.org/officeDocument/2006/relationships/slide"/><Relationship Id="rId24" Target="slides/slide6.xml" Type="http://schemas.openxmlformats.org/officeDocument/2006/relationships/slide"/><Relationship Id="rId25" Target="slides/slide7.xml" Type="http://schemas.openxmlformats.org/officeDocument/2006/relationships/slide"/><Relationship Id="rId26" Target="slides/slide8.xml" Type="http://schemas.openxmlformats.org/officeDocument/2006/relationships/slide"/><Relationship Id="rId27" Target="slides/slide9.xml" Type="http://schemas.openxmlformats.org/officeDocument/2006/relationships/slide"/><Relationship Id="rId28" Target="slides/slide10.xml" Type="http://schemas.openxmlformats.org/officeDocument/2006/relationships/slide"/><Relationship Id="rId29" Target="slides/slide11.xml" Type="http://schemas.openxmlformats.org/officeDocument/2006/relationships/slide"/><Relationship Id="rId3" Target="viewProps.xml" Type="http://schemas.openxmlformats.org/officeDocument/2006/relationships/viewProps"/><Relationship Id="rId30" Target="slides/slide12.xml" Type="http://schemas.openxmlformats.org/officeDocument/2006/relationships/slide"/><Relationship Id="rId31" Target="slides/slide13.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A0BA"/>
        </a:solidFill>
      </p:bgPr>
    </p:bg>
    <p:spTree>
      <p:nvGrpSpPr>
        <p:cNvPr id="1" name=""/>
        <p:cNvGrpSpPr/>
        <p:nvPr/>
      </p:nvGrpSpPr>
      <p:grpSpPr>
        <a:xfrm>
          <a:off x="0" y="0"/>
          <a:ext cx="0" cy="0"/>
          <a:chOff x="0" y="0"/>
          <a:chExt cx="0" cy="0"/>
        </a:xfrm>
      </p:grpSpPr>
      <p:grpSp>
        <p:nvGrpSpPr>
          <p:cNvPr name="Group 2" id="2"/>
          <p:cNvGrpSpPr/>
          <p:nvPr/>
        </p:nvGrpSpPr>
        <p:grpSpPr>
          <a:xfrm rot="-10800000">
            <a:off x="500943" y="2673949"/>
            <a:ext cx="2487922" cy="7613051"/>
            <a:chOff x="0" y="0"/>
            <a:chExt cx="2354580" cy="7205024"/>
          </a:xfrm>
        </p:grpSpPr>
        <p:sp>
          <p:nvSpPr>
            <p:cNvPr name="Freeform 3" id="3"/>
            <p:cNvSpPr/>
            <p:nvPr/>
          </p:nvSpPr>
          <p:spPr>
            <a:xfrm>
              <a:off x="0" y="0"/>
              <a:ext cx="2353310" cy="7205024"/>
            </a:xfrm>
            <a:custGeom>
              <a:avLst/>
              <a:gdLst/>
              <a:ahLst/>
              <a:cxnLst/>
              <a:rect r="r" b="b" t="t" l="l"/>
              <a:pathLst>
                <a:path h="7205024" w="2353310">
                  <a:moveTo>
                    <a:pt x="784860" y="7137714"/>
                  </a:moveTo>
                  <a:cubicBezTo>
                    <a:pt x="905510" y="7178354"/>
                    <a:pt x="1042670" y="7205024"/>
                    <a:pt x="1177290" y="7205024"/>
                  </a:cubicBezTo>
                  <a:cubicBezTo>
                    <a:pt x="1311910" y="7205024"/>
                    <a:pt x="1441450" y="7182164"/>
                    <a:pt x="1560830" y="7141524"/>
                  </a:cubicBezTo>
                  <a:cubicBezTo>
                    <a:pt x="1563370" y="7140254"/>
                    <a:pt x="1565910" y="7140254"/>
                    <a:pt x="1568450" y="7138984"/>
                  </a:cubicBezTo>
                  <a:cubicBezTo>
                    <a:pt x="2016760" y="6976424"/>
                    <a:pt x="2346960" y="6547164"/>
                    <a:pt x="2353310" y="6032173"/>
                  </a:cubicBezTo>
                  <a:lnTo>
                    <a:pt x="2353310" y="0"/>
                  </a:lnTo>
                  <a:lnTo>
                    <a:pt x="0" y="0"/>
                  </a:lnTo>
                  <a:lnTo>
                    <a:pt x="0" y="6027567"/>
                  </a:lnTo>
                  <a:cubicBezTo>
                    <a:pt x="6350" y="6549704"/>
                    <a:pt x="331470" y="6978964"/>
                    <a:pt x="784860" y="7137714"/>
                  </a:cubicBezTo>
                  <a:close/>
                </a:path>
              </a:pathLst>
            </a:custGeom>
            <a:solidFill>
              <a:srgbClr val="0A7679"/>
            </a:solidFill>
          </p:spPr>
        </p:sp>
      </p:grpSp>
      <p:grpSp>
        <p:nvGrpSpPr>
          <p:cNvPr name="Group 4" id="4"/>
          <p:cNvGrpSpPr/>
          <p:nvPr/>
        </p:nvGrpSpPr>
        <p:grpSpPr>
          <a:xfrm rot="0">
            <a:off x="7162318" y="0"/>
            <a:ext cx="2659219" cy="2894151"/>
            <a:chOff x="0" y="0"/>
            <a:chExt cx="2354580" cy="2562599"/>
          </a:xfrm>
        </p:grpSpPr>
        <p:sp>
          <p:nvSpPr>
            <p:cNvPr name="Freeform 5" id="5"/>
            <p:cNvSpPr/>
            <p:nvPr/>
          </p:nvSpPr>
          <p:spPr>
            <a:xfrm>
              <a:off x="0" y="0"/>
              <a:ext cx="2353310" cy="2562599"/>
            </a:xfrm>
            <a:custGeom>
              <a:avLst/>
              <a:gdLst/>
              <a:ahLst/>
              <a:cxnLst/>
              <a:rect r="r" b="b" t="t" l="l"/>
              <a:pathLst>
                <a:path h="2562599" w="2353310">
                  <a:moveTo>
                    <a:pt x="784860" y="2495289"/>
                  </a:moveTo>
                  <a:cubicBezTo>
                    <a:pt x="905510" y="2535929"/>
                    <a:pt x="1042670" y="2562599"/>
                    <a:pt x="1177290" y="2562599"/>
                  </a:cubicBezTo>
                  <a:cubicBezTo>
                    <a:pt x="1311910" y="2562599"/>
                    <a:pt x="1441450" y="2539739"/>
                    <a:pt x="1560830" y="2499099"/>
                  </a:cubicBezTo>
                  <a:cubicBezTo>
                    <a:pt x="1563370" y="2497829"/>
                    <a:pt x="1565910" y="2497829"/>
                    <a:pt x="1568450" y="2496559"/>
                  </a:cubicBezTo>
                  <a:cubicBezTo>
                    <a:pt x="2016760" y="2333999"/>
                    <a:pt x="2346960" y="1904739"/>
                    <a:pt x="2353310" y="1404031"/>
                  </a:cubicBezTo>
                  <a:lnTo>
                    <a:pt x="2353310" y="0"/>
                  </a:lnTo>
                  <a:lnTo>
                    <a:pt x="0" y="0"/>
                  </a:lnTo>
                  <a:lnTo>
                    <a:pt x="0" y="1402997"/>
                  </a:lnTo>
                  <a:cubicBezTo>
                    <a:pt x="6350" y="1907279"/>
                    <a:pt x="331470" y="2336539"/>
                    <a:pt x="784860" y="2495289"/>
                  </a:cubicBezTo>
                  <a:close/>
                </a:path>
              </a:pathLst>
            </a:custGeom>
            <a:solidFill>
              <a:srgbClr val="F80C1F"/>
            </a:solidFill>
          </p:spPr>
        </p:sp>
      </p:grpSp>
      <p:grpSp>
        <p:nvGrpSpPr>
          <p:cNvPr name="Group 6" id="6"/>
          <p:cNvGrpSpPr/>
          <p:nvPr/>
        </p:nvGrpSpPr>
        <p:grpSpPr>
          <a:xfrm rot="-10800000">
            <a:off x="14278434" y="5496129"/>
            <a:ext cx="2492693" cy="4790871"/>
            <a:chOff x="0" y="0"/>
            <a:chExt cx="2354580" cy="4525422"/>
          </a:xfrm>
        </p:grpSpPr>
        <p:sp>
          <p:nvSpPr>
            <p:cNvPr name="Freeform 7" id="7"/>
            <p:cNvSpPr/>
            <p:nvPr/>
          </p:nvSpPr>
          <p:spPr>
            <a:xfrm>
              <a:off x="0" y="0"/>
              <a:ext cx="2353310" cy="4525422"/>
            </a:xfrm>
            <a:custGeom>
              <a:avLst/>
              <a:gdLst/>
              <a:ahLst/>
              <a:cxnLst/>
              <a:rect r="r" b="b" t="t" l="l"/>
              <a:pathLst>
                <a:path h="4525422" w="2353310">
                  <a:moveTo>
                    <a:pt x="784860" y="4458112"/>
                  </a:moveTo>
                  <a:cubicBezTo>
                    <a:pt x="905510" y="4498752"/>
                    <a:pt x="1042670" y="4525422"/>
                    <a:pt x="1177290" y="4525422"/>
                  </a:cubicBezTo>
                  <a:cubicBezTo>
                    <a:pt x="1311910" y="4525422"/>
                    <a:pt x="1441450" y="4502562"/>
                    <a:pt x="1560830" y="4461922"/>
                  </a:cubicBezTo>
                  <a:cubicBezTo>
                    <a:pt x="1563370" y="4460652"/>
                    <a:pt x="1565910" y="4460652"/>
                    <a:pt x="1568450" y="4459382"/>
                  </a:cubicBezTo>
                  <a:cubicBezTo>
                    <a:pt x="2016760" y="4296822"/>
                    <a:pt x="2346960" y="3867562"/>
                    <a:pt x="2353310" y="3360815"/>
                  </a:cubicBezTo>
                  <a:lnTo>
                    <a:pt x="2353310" y="0"/>
                  </a:lnTo>
                  <a:lnTo>
                    <a:pt x="0" y="0"/>
                  </a:lnTo>
                  <a:lnTo>
                    <a:pt x="0" y="3358271"/>
                  </a:lnTo>
                  <a:cubicBezTo>
                    <a:pt x="6350" y="3870102"/>
                    <a:pt x="331470" y="4299362"/>
                    <a:pt x="784860" y="4458112"/>
                  </a:cubicBezTo>
                  <a:close/>
                </a:path>
              </a:pathLst>
            </a:custGeom>
            <a:solidFill>
              <a:srgbClr val="FEE499"/>
            </a:solidFill>
          </p:spPr>
        </p:sp>
      </p:grpSp>
      <p:grpSp>
        <p:nvGrpSpPr>
          <p:cNvPr name="Group 8" id="8"/>
          <p:cNvGrpSpPr/>
          <p:nvPr/>
        </p:nvGrpSpPr>
        <p:grpSpPr>
          <a:xfrm rot="0">
            <a:off x="14411962" y="2895959"/>
            <a:ext cx="2419575" cy="2419575"/>
            <a:chOff x="0" y="0"/>
            <a:chExt cx="6350000" cy="6350000"/>
          </a:xfrm>
        </p:grpSpPr>
        <p:sp>
          <p:nvSpPr>
            <p:cNvPr name="Freeform 9" id="9"/>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C79BF"/>
            </a:solidFill>
          </p:spPr>
        </p:sp>
      </p:grpSp>
      <p:grpSp>
        <p:nvGrpSpPr>
          <p:cNvPr name="Group 10" id="10"/>
          <p:cNvGrpSpPr/>
          <p:nvPr/>
        </p:nvGrpSpPr>
        <p:grpSpPr>
          <a:xfrm rot="0">
            <a:off x="3198698" y="5967644"/>
            <a:ext cx="5945302" cy="1734837"/>
            <a:chOff x="0" y="0"/>
            <a:chExt cx="5047662" cy="1472906"/>
          </a:xfrm>
        </p:grpSpPr>
        <p:sp>
          <p:nvSpPr>
            <p:cNvPr name="Freeform 11" id="11"/>
            <p:cNvSpPr/>
            <p:nvPr/>
          </p:nvSpPr>
          <p:spPr>
            <a:xfrm>
              <a:off x="0" y="0"/>
              <a:ext cx="5047662" cy="1472906"/>
            </a:xfrm>
            <a:custGeom>
              <a:avLst/>
              <a:gdLst/>
              <a:ahLst/>
              <a:cxnLst/>
              <a:rect r="r" b="b" t="t" l="l"/>
              <a:pathLst>
                <a:path h="1472906" w="5047662">
                  <a:moveTo>
                    <a:pt x="4923201" y="1472906"/>
                  </a:moveTo>
                  <a:lnTo>
                    <a:pt x="124460" y="1472906"/>
                  </a:lnTo>
                  <a:cubicBezTo>
                    <a:pt x="55880" y="1472906"/>
                    <a:pt x="0" y="1417026"/>
                    <a:pt x="0" y="1348446"/>
                  </a:cubicBezTo>
                  <a:lnTo>
                    <a:pt x="0" y="124460"/>
                  </a:lnTo>
                  <a:cubicBezTo>
                    <a:pt x="0" y="55880"/>
                    <a:pt x="55880" y="0"/>
                    <a:pt x="124460" y="0"/>
                  </a:cubicBezTo>
                  <a:lnTo>
                    <a:pt x="4923202" y="0"/>
                  </a:lnTo>
                  <a:cubicBezTo>
                    <a:pt x="4991782" y="0"/>
                    <a:pt x="5047662" y="55880"/>
                    <a:pt x="5047662" y="124460"/>
                  </a:cubicBezTo>
                  <a:lnTo>
                    <a:pt x="5047662" y="1348446"/>
                  </a:lnTo>
                  <a:cubicBezTo>
                    <a:pt x="5047662" y="1417026"/>
                    <a:pt x="4991782" y="1472906"/>
                    <a:pt x="4923202" y="1472906"/>
                  </a:cubicBezTo>
                  <a:close/>
                </a:path>
              </a:pathLst>
            </a:custGeom>
            <a:solidFill>
              <a:srgbClr val="EDEDED"/>
            </a:solidFill>
          </p:spPr>
        </p:sp>
      </p:grpSp>
      <p:pic>
        <p:nvPicPr>
          <p:cNvPr name="Picture 12" id="12"/>
          <p:cNvPicPr>
            <a:picLocks noChangeAspect="true"/>
          </p:cNvPicPr>
          <p:nvPr/>
        </p:nvPicPr>
        <p:blipFill>
          <a:blip r:embed="rId2"/>
          <a:srcRect l="0" t="0" r="0" b="0"/>
          <a:stretch>
            <a:fillRect/>
          </a:stretch>
        </p:blipFill>
        <p:spPr>
          <a:xfrm flipH="false" flipV="false" rot="0">
            <a:off x="11714950" y="305162"/>
            <a:ext cx="5544350" cy="1447075"/>
          </a:xfrm>
          <a:prstGeom prst="rect">
            <a:avLst/>
          </a:prstGeom>
        </p:spPr>
      </p:pic>
      <p:pic>
        <p:nvPicPr>
          <p:cNvPr name="Picture 13" id="13"/>
          <p:cNvPicPr>
            <a:picLocks noChangeAspect="true"/>
          </p:cNvPicPr>
          <p:nvPr/>
        </p:nvPicPr>
        <p:blipFill>
          <a:blip r:embed="rId3"/>
          <a:srcRect l="0" t="0" r="0" b="0"/>
          <a:stretch>
            <a:fillRect/>
          </a:stretch>
        </p:blipFill>
        <p:spPr>
          <a:xfrm flipH="false" flipV="false" rot="0">
            <a:off x="500943" y="305162"/>
            <a:ext cx="2487922" cy="2473786"/>
          </a:xfrm>
          <a:prstGeom prst="rect">
            <a:avLst/>
          </a:prstGeom>
        </p:spPr>
      </p:pic>
      <p:sp>
        <p:nvSpPr>
          <p:cNvPr name="TextBox 14" id="14"/>
          <p:cNvSpPr txBox="true"/>
          <p:nvPr/>
        </p:nvSpPr>
        <p:spPr>
          <a:xfrm rot="0">
            <a:off x="3345775" y="2979970"/>
            <a:ext cx="10932660" cy="2797174"/>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SMART CITY UNDER IoT TECHNOLOGY</a:t>
            </a:r>
          </a:p>
        </p:txBody>
      </p:sp>
      <p:sp>
        <p:nvSpPr>
          <p:cNvPr name="TextBox 15" id="15"/>
          <p:cNvSpPr txBox="true"/>
          <p:nvPr/>
        </p:nvSpPr>
        <p:spPr>
          <a:xfrm rot="0">
            <a:off x="3345775" y="5912416"/>
            <a:ext cx="5613407" cy="1790065"/>
          </a:xfrm>
          <a:prstGeom prst="rect">
            <a:avLst/>
          </a:prstGeom>
        </p:spPr>
        <p:txBody>
          <a:bodyPr anchor="t" rtlCol="false" tIns="0" lIns="0" bIns="0" rIns="0">
            <a:spAutoFit/>
          </a:bodyPr>
          <a:lstStyle/>
          <a:p>
            <a:pPr>
              <a:lnSpc>
                <a:spcPts val="4759"/>
              </a:lnSpc>
            </a:pPr>
            <a:r>
              <a:rPr lang="en-US" sz="3399">
                <a:solidFill>
                  <a:srgbClr val="000000"/>
                </a:solidFill>
                <a:latin typeface="Antic"/>
              </a:rPr>
              <a:t>Prepared by: Tanmay Patel</a:t>
            </a:r>
          </a:p>
          <a:p>
            <a:pPr algn="r">
              <a:lnSpc>
                <a:spcPts val="4759"/>
              </a:lnSpc>
            </a:pPr>
            <a:r>
              <a:rPr lang="en-US" sz="3399">
                <a:solidFill>
                  <a:srgbClr val="000000"/>
                </a:solidFill>
                <a:latin typeface="Antic"/>
              </a:rPr>
              <a:t>EC Department   </a:t>
            </a:r>
          </a:p>
          <a:p>
            <a:pPr algn="r">
              <a:lnSpc>
                <a:spcPts val="4759"/>
              </a:lnSpc>
            </a:pPr>
            <a:r>
              <a:rPr lang="en-US" sz="3399">
                <a:solidFill>
                  <a:srgbClr val="000000"/>
                </a:solidFill>
                <a:latin typeface="Antic"/>
              </a:rPr>
              <a:t>19EC056           </a:t>
            </a:r>
          </a:p>
        </p:txBody>
      </p:sp>
      <p:grpSp>
        <p:nvGrpSpPr>
          <p:cNvPr name="Group 16" id="16"/>
          <p:cNvGrpSpPr/>
          <p:nvPr/>
        </p:nvGrpSpPr>
        <p:grpSpPr>
          <a:xfrm rot="0">
            <a:off x="8009725" y="8073991"/>
            <a:ext cx="6113389" cy="1803240"/>
            <a:chOff x="0" y="0"/>
            <a:chExt cx="4641006" cy="1368938"/>
          </a:xfrm>
        </p:grpSpPr>
        <p:sp>
          <p:nvSpPr>
            <p:cNvPr name="Freeform 17" id="17"/>
            <p:cNvSpPr/>
            <p:nvPr/>
          </p:nvSpPr>
          <p:spPr>
            <a:xfrm>
              <a:off x="0" y="0"/>
              <a:ext cx="4641006" cy="1368938"/>
            </a:xfrm>
            <a:custGeom>
              <a:avLst/>
              <a:gdLst/>
              <a:ahLst/>
              <a:cxnLst/>
              <a:rect r="r" b="b" t="t" l="l"/>
              <a:pathLst>
                <a:path h="1368938" w="4641006">
                  <a:moveTo>
                    <a:pt x="4516546" y="1368938"/>
                  </a:moveTo>
                  <a:lnTo>
                    <a:pt x="124460" y="1368938"/>
                  </a:lnTo>
                  <a:cubicBezTo>
                    <a:pt x="55880" y="1368938"/>
                    <a:pt x="0" y="1313058"/>
                    <a:pt x="0" y="1244478"/>
                  </a:cubicBezTo>
                  <a:lnTo>
                    <a:pt x="0" y="124460"/>
                  </a:lnTo>
                  <a:cubicBezTo>
                    <a:pt x="0" y="55880"/>
                    <a:pt x="55880" y="0"/>
                    <a:pt x="124460" y="0"/>
                  </a:cubicBezTo>
                  <a:lnTo>
                    <a:pt x="4516546" y="0"/>
                  </a:lnTo>
                  <a:cubicBezTo>
                    <a:pt x="4585126" y="0"/>
                    <a:pt x="4641006" y="55880"/>
                    <a:pt x="4641006" y="124460"/>
                  </a:cubicBezTo>
                  <a:lnTo>
                    <a:pt x="4641006" y="1244478"/>
                  </a:lnTo>
                  <a:cubicBezTo>
                    <a:pt x="4641006" y="1313058"/>
                    <a:pt x="4585126" y="1368938"/>
                    <a:pt x="4516546" y="1368938"/>
                  </a:cubicBezTo>
                  <a:close/>
                </a:path>
              </a:pathLst>
            </a:custGeom>
            <a:solidFill>
              <a:srgbClr val="EDEDED"/>
            </a:solidFill>
          </p:spPr>
        </p:sp>
      </p:grpSp>
      <p:sp>
        <p:nvSpPr>
          <p:cNvPr name="TextBox 18" id="18"/>
          <p:cNvSpPr txBox="true"/>
          <p:nvPr/>
        </p:nvSpPr>
        <p:spPr>
          <a:xfrm rot="0">
            <a:off x="8138313" y="7997791"/>
            <a:ext cx="5856214" cy="1790065"/>
          </a:xfrm>
          <a:prstGeom prst="rect">
            <a:avLst/>
          </a:prstGeom>
        </p:spPr>
        <p:txBody>
          <a:bodyPr anchor="t" rtlCol="false" tIns="0" lIns="0" bIns="0" rIns="0">
            <a:spAutoFit/>
          </a:bodyPr>
          <a:lstStyle/>
          <a:p>
            <a:pPr>
              <a:lnSpc>
                <a:spcPts val="4759"/>
              </a:lnSpc>
            </a:pPr>
            <a:r>
              <a:rPr lang="en-US" sz="3399">
                <a:solidFill>
                  <a:srgbClr val="000000"/>
                </a:solidFill>
                <a:latin typeface="Antic"/>
              </a:rPr>
              <a:t>Guided by: Prof. Miral Desai</a:t>
            </a:r>
          </a:p>
          <a:p>
            <a:pPr algn="r">
              <a:lnSpc>
                <a:spcPts val="4759"/>
              </a:lnSpc>
            </a:pPr>
            <a:r>
              <a:rPr lang="en-US" sz="3399">
                <a:solidFill>
                  <a:srgbClr val="000000"/>
                </a:solidFill>
                <a:latin typeface="Antic"/>
              </a:rPr>
              <a:t>Assistant Professor </a:t>
            </a:r>
          </a:p>
          <a:p>
            <a:pPr algn="r">
              <a:lnSpc>
                <a:spcPts val="4759"/>
              </a:lnSpc>
            </a:pPr>
            <a:r>
              <a:rPr lang="en-US" sz="3399">
                <a:solidFill>
                  <a:srgbClr val="000000"/>
                </a:solidFill>
                <a:latin typeface="Antic"/>
              </a:rPr>
              <a:t>EC Department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A0BA"/>
        </a:solidFill>
      </p:bgPr>
    </p:bg>
    <p:spTree>
      <p:nvGrpSpPr>
        <p:cNvPr id="1" name=""/>
        <p:cNvGrpSpPr/>
        <p:nvPr/>
      </p:nvGrpSpPr>
      <p:grpSpPr>
        <a:xfrm>
          <a:off x="0" y="0"/>
          <a:ext cx="0" cy="0"/>
          <a:chOff x="0" y="0"/>
          <a:chExt cx="0" cy="0"/>
        </a:xfrm>
      </p:grpSpPr>
      <p:sp>
        <p:nvSpPr>
          <p:cNvPr name="TextBox 2" id="2"/>
          <p:cNvSpPr txBox="true"/>
          <p:nvPr/>
        </p:nvSpPr>
        <p:spPr>
          <a:xfrm rot="0">
            <a:off x="9204270" y="830158"/>
            <a:ext cx="7322748" cy="973455"/>
          </a:xfrm>
          <a:prstGeom prst="rect">
            <a:avLst/>
          </a:prstGeom>
        </p:spPr>
        <p:txBody>
          <a:bodyPr anchor="t" rtlCol="false" tIns="0" lIns="0" bIns="0" rIns="0">
            <a:spAutoFit/>
          </a:bodyPr>
          <a:lstStyle/>
          <a:p>
            <a:pPr algn="l">
              <a:lnSpc>
                <a:spcPts val="8400"/>
              </a:lnSpc>
            </a:pPr>
            <a:r>
              <a:rPr lang="en-US" sz="4200">
                <a:solidFill>
                  <a:srgbClr val="000000"/>
                </a:solidFill>
                <a:latin typeface="Antic"/>
              </a:rPr>
              <a:t>Project Description </a:t>
            </a:r>
          </a:p>
        </p:txBody>
      </p:sp>
      <p:grpSp>
        <p:nvGrpSpPr>
          <p:cNvPr name="Group 3" id="3"/>
          <p:cNvGrpSpPr/>
          <p:nvPr/>
        </p:nvGrpSpPr>
        <p:grpSpPr>
          <a:xfrm rot="0">
            <a:off x="7788453" y="1070141"/>
            <a:ext cx="771999" cy="771999"/>
            <a:chOff x="0" y="0"/>
            <a:chExt cx="6350000" cy="6350000"/>
          </a:xfrm>
        </p:grpSpPr>
        <p:sp>
          <p:nvSpPr>
            <p:cNvPr name="Freeform 4" id="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5" id="5"/>
          <p:cNvSpPr txBox="true"/>
          <p:nvPr/>
        </p:nvSpPr>
        <p:spPr>
          <a:xfrm rot="0">
            <a:off x="7901847" y="1059710"/>
            <a:ext cx="545211" cy="669036"/>
          </a:xfrm>
          <a:prstGeom prst="rect">
            <a:avLst/>
          </a:prstGeom>
        </p:spPr>
        <p:txBody>
          <a:bodyPr anchor="t" rtlCol="false" tIns="0" lIns="0" bIns="0" rIns="0">
            <a:spAutoFit/>
          </a:bodyPr>
          <a:lstStyle/>
          <a:p>
            <a:pPr algn="ctr">
              <a:lnSpc>
                <a:spcPts val="5652"/>
              </a:lnSpc>
            </a:pPr>
            <a:r>
              <a:rPr lang="en-US" sz="3600">
                <a:solidFill>
                  <a:srgbClr val="000000"/>
                </a:solidFill>
                <a:latin typeface="League Spartan"/>
              </a:rPr>
              <a:t>1</a:t>
            </a:r>
          </a:p>
        </p:txBody>
      </p:sp>
      <p:grpSp>
        <p:nvGrpSpPr>
          <p:cNvPr name="Group 6" id="6"/>
          <p:cNvGrpSpPr/>
          <p:nvPr/>
        </p:nvGrpSpPr>
        <p:grpSpPr>
          <a:xfrm rot="0">
            <a:off x="7788453" y="2203615"/>
            <a:ext cx="771999" cy="771999"/>
            <a:chOff x="0" y="0"/>
            <a:chExt cx="6350000" cy="6350000"/>
          </a:xfrm>
        </p:grpSpPr>
        <p:sp>
          <p:nvSpPr>
            <p:cNvPr name="Freeform 7" id="7"/>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8" id="8"/>
          <p:cNvSpPr txBox="true"/>
          <p:nvPr/>
        </p:nvSpPr>
        <p:spPr>
          <a:xfrm rot="0">
            <a:off x="7901847" y="2193184"/>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u="none">
                <a:solidFill>
                  <a:srgbClr val="000000"/>
                </a:solidFill>
                <a:latin typeface="League Spartan"/>
              </a:rPr>
              <a:t>2</a:t>
            </a:r>
          </a:p>
        </p:txBody>
      </p:sp>
      <p:sp>
        <p:nvSpPr>
          <p:cNvPr name="TextBox 9" id="9"/>
          <p:cNvSpPr txBox="true"/>
          <p:nvPr/>
        </p:nvSpPr>
        <p:spPr>
          <a:xfrm rot="0">
            <a:off x="9204270" y="3190427"/>
            <a:ext cx="7322748"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Basic Information</a:t>
            </a:r>
          </a:p>
        </p:txBody>
      </p:sp>
      <p:grpSp>
        <p:nvGrpSpPr>
          <p:cNvPr name="Group 10" id="10"/>
          <p:cNvGrpSpPr/>
          <p:nvPr/>
        </p:nvGrpSpPr>
        <p:grpSpPr>
          <a:xfrm rot="0">
            <a:off x="7788453" y="4700113"/>
            <a:ext cx="771999" cy="771999"/>
            <a:chOff x="0" y="0"/>
            <a:chExt cx="6350000" cy="6350000"/>
          </a:xfrm>
        </p:grpSpPr>
        <p:sp>
          <p:nvSpPr>
            <p:cNvPr name="Freeform 11" id="11"/>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12" id="12"/>
          <p:cNvSpPr txBox="true"/>
          <p:nvPr/>
        </p:nvSpPr>
        <p:spPr>
          <a:xfrm rot="0">
            <a:off x="7901847" y="4689682"/>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u="none">
                <a:solidFill>
                  <a:srgbClr val="000000"/>
                </a:solidFill>
                <a:latin typeface="League Spartan"/>
              </a:rPr>
              <a:t>4</a:t>
            </a:r>
          </a:p>
        </p:txBody>
      </p:sp>
      <p:sp>
        <p:nvSpPr>
          <p:cNvPr name="TextBox 13" id="13"/>
          <p:cNvSpPr txBox="true"/>
          <p:nvPr/>
        </p:nvSpPr>
        <p:spPr>
          <a:xfrm rot="0">
            <a:off x="9204270" y="1936200"/>
            <a:ext cx="8055030"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Hardware Components</a:t>
            </a:r>
          </a:p>
        </p:txBody>
      </p:sp>
      <p:grpSp>
        <p:nvGrpSpPr>
          <p:cNvPr name="Group 14" id="14"/>
          <p:cNvGrpSpPr/>
          <p:nvPr/>
        </p:nvGrpSpPr>
        <p:grpSpPr>
          <a:xfrm rot="0">
            <a:off x="7788453" y="3451864"/>
            <a:ext cx="771999" cy="771999"/>
            <a:chOff x="0" y="0"/>
            <a:chExt cx="6350000" cy="6350000"/>
          </a:xfrm>
        </p:grpSpPr>
        <p:sp>
          <p:nvSpPr>
            <p:cNvPr name="Freeform 15" id="1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16" id="16"/>
          <p:cNvSpPr txBox="true"/>
          <p:nvPr/>
        </p:nvSpPr>
        <p:spPr>
          <a:xfrm rot="0">
            <a:off x="7901847" y="3441433"/>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u="none">
                <a:solidFill>
                  <a:srgbClr val="000000"/>
                </a:solidFill>
                <a:latin typeface="League Spartan"/>
              </a:rPr>
              <a:t>3</a:t>
            </a:r>
          </a:p>
        </p:txBody>
      </p:sp>
      <p:grpSp>
        <p:nvGrpSpPr>
          <p:cNvPr name="Group 17" id="17"/>
          <p:cNvGrpSpPr/>
          <p:nvPr/>
        </p:nvGrpSpPr>
        <p:grpSpPr>
          <a:xfrm rot="0">
            <a:off x="1526201" y="-29765"/>
            <a:ext cx="2492693" cy="1914268"/>
            <a:chOff x="0" y="0"/>
            <a:chExt cx="2354580" cy="1808204"/>
          </a:xfrm>
        </p:grpSpPr>
        <p:sp>
          <p:nvSpPr>
            <p:cNvPr name="Freeform 18" id="18"/>
            <p:cNvSpPr/>
            <p:nvPr/>
          </p:nvSpPr>
          <p:spPr>
            <a:xfrm>
              <a:off x="0" y="0"/>
              <a:ext cx="2353310" cy="1808204"/>
            </a:xfrm>
            <a:custGeom>
              <a:avLst/>
              <a:gdLst/>
              <a:ahLst/>
              <a:cxnLst/>
              <a:rect r="r" b="b" t="t" l="l"/>
              <a:pathLst>
                <a:path h="1808204" w="2353310">
                  <a:moveTo>
                    <a:pt x="784860" y="1740894"/>
                  </a:moveTo>
                  <a:cubicBezTo>
                    <a:pt x="905510" y="1781534"/>
                    <a:pt x="1042670" y="1808204"/>
                    <a:pt x="1177290" y="1808204"/>
                  </a:cubicBezTo>
                  <a:cubicBezTo>
                    <a:pt x="1311910" y="1808204"/>
                    <a:pt x="1441450" y="1785344"/>
                    <a:pt x="1560830" y="1744704"/>
                  </a:cubicBezTo>
                  <a:cubicBezTo>
                    <a:pt x="1563370" y="1743434"/>
                    <a:pt x="1565910" y="1743434"/>
                    <a:pt x="1568450" y="1742164"/>
                  </a:cubicBezTo>
                  <a:cubicBezTo>
                    <a:pt x="2016760" y="1579604"/>
                    <a:pt x="2346960" y="1150344"/>
                    <a:pt x="2353310" y="651957"/>
                  </a:cubicBezTo>
                  <a:lnTo>
                    <a:pt x="2353310" y="0"/>
                  </a:lnTo>
                  <a:lnTo>
                    <a:pt x="0" y="0"/>
                  </a:lnTo>
                  <a:lnTo>
                    <a:pt x="0" y="651503"/>
                  </a:lnTo>
                  <a:cubicBezTo>
                    <a:pt x="6350" y="1152884"/>
                    <a:pt x="331470" y="1582144"/>
                    <a:pt x="784860" y="1740894"/>
                  </a:cubicBezTo>
                  <a:close/>
                </a:path>
              </a:pathLst>
            </a:custGeom>
            <a:solidFill>
              <a:srgbClr val="2C79BF"/>
            </a:solidFill>
          </p:spPr>
        </p:sp>
      </p:grpSp>
      <p:grpSp>
        <p:nvGrpSpPr>
          <p:cNvPr name="Group 19" id="19"/>
          <p:cNvGrpSpPr/>
          <p:nvPr/>
        </p:nvGrpSpPr>
        <p:grpSpPr>
          <a:xfrm rot="0">
            <a:off x="15173846" y="7311203"/>
            <a:ext cx="2706346" cy="2706346"/>
            <a:chOff x="0" y="0"/>
            <a:chExt cx="6350000" cy="6350000"/>
          </a:xfrm>
        </p:grpSpPr>
        <p:sp>
          <p:nvSpPr>
            <p:cNvPr name="Freeform 20" id="20"/>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21" id="21"/>
          <p:cNvSpPr txBox="true"/>
          <p:nvPr/>
        </p:nvSpPr>
        <p:spPr>
          <a:xfrm rot="0">
            <a:off x="1236472" y="1976120"/>
            <a:ext cx="5904281" cy="1707885"/>
          </a:xfrm>
          <a:prstGeom prst="rect">
            <a:avLst/>
          </a:prstGeom>
        </p:spPr>
        <p:txBody>
          <a:bodyPr anchor="t" rtlCol="false" tIns="0" lIns="0" bIns="0" rIns="0">
            <a:spAutoFit/>
          </a:bodyPr>
          <a:lstStyle/>
          <a:p>
            <a:pPr algn="l">
              <a:lnSpc>
                <a:spcPts val="13939"/>
              </a:lnSpc>
            </a:pPr>
            <a:r>
              <a:rPr lang="en-US" sz="9956">
                <a:solidFill>
                  <a:srgbClr val="000000"/>
                </a:solidFill>
                <a:latin typeface="League Spartan"/>
              </a:rPr>
              <a:t>Content</a:t>
            </a:r>
          </a:p>
        </p:txBody>
      </p:sp>
      <p:sp>
        <p:nvSpPr>
          <p:cNvPr name="TextBox 22" id="22"/>
          <p:cNvSpPr txBox="true"/>
          <p:nvPr/>
        </p:nvSpPr>
        <p:spPr>
          <a:xfrm rot="0">
            <a:off x="9204270" y="5680946"/>
            <a:ext cx="7322748"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Program Flow Chart</a:t>
            </a:r>
          </a:p>
        </p:txBody>
      </p:sp>
      <p:grpSp>
        <p:nvGrpSpPr>
          <p:cNvPr name="Group 23" id="23"/>
          <p:cNvGrpSpPr/>
          <p:nvPr/>
        </p:nvGrpSpPr>
        <p:grpSpPr>
          <a:xfrm rot="0">
            <a:off x="7788453" y="5948362"/>
            <a:ext cx="771999" cy="771999"/>
            <a:chOff x="0" y="0"/>
            <a:chExt cx="6350000" cy="6350000"/>
          </a:xfrm>
        </p:grpSpPr>
        <p:sp>
          <p:nvSpPr>
            <p:cNvPr name="Freeform 24" id="2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25" id="25"/>
          <p:cNvSpPr txBox="true"/>
          <p:nvPr/>
        </p:nvSpPr>
        <p:spPr>
          <a:xfrm rot="0">
            <a:off x="7901847" y="5937931"/>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a:solidFill>
                  <a:srgbClr val="000000"/>
                </a:solidFill>
                <a:latin typeface="League Spartan"/>
              </a:rPr>
              <a:t>5</a:t>
            </a:r>
          </a:p>
        </p:txBody>
      </p:sp>
      <p:sp>
        <p:nvSpPr>
          <p:cNvPr name="TextBox 26" id="26"/>
          <p:cNvSpPr txBox="true"/>
          <p:nvPr/>
        </p:nvSpPr>
        <p:spPr>
          <a:xfrm rot="0">
            <a:off x="9144000" y="4446615"/>
            <a:ext cx="7596160"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Proposed System Block Diagram</a:t>
            </a:r>
          </a:p>
        </p:txBody>
      </p:sp>
      <p:sp>
        <p:nvSpPr>
          <p:cNvPr name="TextBox 27" id="27"/>
          <p:cNvSpPr txBox="true"/>
          <p:nvPr/>
        </p:nvSpPr>
        <p:spPr>
          <a:xfrm rot="0">
            <a:off x="9242370" y="6929195"/>
            <a:ext cx="7322748"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Experimental Set-up </a:t>
            </a:r>
          </a:p>
        </p:txBody>
      </p:sp>
      <p:grpSp>
        <p:nvGrpSpPr>
          <p:cNvPr name="Group 28" id="28"/>
          <p:cNvGrpSpPr/>
          <p:nvPr/>
        </p:nvGrpSpPr>
        <p:grpSpPr>
          <a:xfrm rot="0">
            <a:off x="7826553" y="7196611"/>
            <a:ext cx="771999" cy="771999"/>
            <a:chOff x="0" y="0"/>
            <a:chExt cx="6350000" cy="6350000"/>
          </a:xfrm>
        </p:grpSpPr>
        <p:sp>
          <p:nvSpPr>
            <p:cNvPr name="Freeform 29" id="29"/>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30" id="30"/>
          <p:cNvSpPr txBox="true"/>
          <p:nvPr/>
        </p:nvSpPr>
        <p:spPr>
          <a:xfrm rot="0">
            <a:off x="7939947" y="7186180"/>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a:solidFill>
                  <a:srgbClr val="000000"/>
                </a:solidFill>
                <a:latin typeface="League Spartan"/>
              </a:rPr>
              <a:t>6</a:t>
            </a:r>
          </a:p>
        </p:txBody>
      </p:sp>
      <p:sp>
        <p:nvSpPr>
          <p:cNvPr name="TextBox 31" id="31"/>
          <p:cNvSpPr txBox="true"/>
          <p:nvPr/>
        </p:nvSpPr>
        <p:spPr>
          <a:xfrm rot="0">
            <a:off x="9242370" y="8177444"/>
            <a:ext cx="7322748" cy="973455"/>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000000"/>
                </a:solidFill>
                <a:latin typeface="Antic"/>
              </a:rPr>
              <a:t>Application</a:t>
            </a:r>
          </a:p>
        </p:txBody>
      </p:sp>
      <p:grpSp>
        <p:nvGrpSpPr>
          <p:cNvPr name="Group 32" id="32"/>
          <p:cNvGrpSpPr/>
          <p:nvPr/>
        </p:nvGrpSpPr>
        <p:grpSpPr>
          <a:xfrm rot="0">
            <a:off x="7826553" y="8444860"/>
            <a:ext cx="771999" cy="771999"/>
            <a:chOff x="0" y="0"/>
            <a:chExt cx="6350000" cy="6350000"/>
          </a:xfrm>
        </p:grpSpPr>
        <p:sp>
          <p:nvSpPr>
            <p:cNvPr name="Freeform 33" id="3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E59A"/>
            </a:solidFill>
          </p:spPr>
        </p:sp>
      </p:grpSp>
      <p:sp>
        <p:nvSpPr>
          <p:cNvPr name="TextBox 34" id="34"/>
          <p:cNvSpPr txBox="true"/>
          <p:nvPr/>
        </p:nvSpPr>
        <p:spPr>
          <a:xfrm rot="0">
            <a:off x="7939947" y="8434429"/>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a:solidFill>
                  <a:srgbClr val="000000"/>
                </a:solidFill>
                <a:latin typeface="League Spartan"/>
              </a:rPr>
              <a:t>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59A"/>
        </a:solidFill>
      </p:bgPr>
    </p:bg>
    <p:spTree>
      <p:nvGrpSpPr>
        <p:cNvPr id="1" name=""/>
        <p:cNvGrpSpPr/>
        <p:nvPr/>
      </p:nvGrpSpPr>
      <p:grpSpPr>
        <a:xfrm>
          <a:off x="0" y="0"/>
          <a:ext cx="0" cy="0"/>
          <a:chOff x="0" y="0"/>
          <a:chExt cx="0" cy="0"/>
        </a:xfrm>
      </p:grpSpPr>
      <p:grpSp>
        <p:nvGrpSpPr>
          <p:cNvPr name="Group 2" id="2"/>
          <p:cNvGrpSpPr/>
          <p:nvPr/>
        </p:nvGrpSpPr>
        <p:grpSpPr>
          <a:xfrm rot="0">
            <a:off x="9144000" y="1870270"/>
            <a:ext cx="7259166" cy="6546460"/>
            <a:chOff x="0" y="0"/>
            <a:chExt cx="9678889" cy="8728613"/>
          </a:xfrm>
        </p:grpSpPr>
        <p:pic>
          <p:nvPicPr>
            <p:cNvPr name="Picture 3" id="3"/>
            <p:cNvPicPr>
              <a:picLocks noChangeAspect="true"/>
            </p:cNvPicPr>
            <p:nvPr/>
          </p:nvPicPr>
          <p:blipFill>
            <a:blip r:embed="rId2"/>
            <a:srcRect l="17922" t="0" r="17922" b="0"/>
            <a:stretch>
              <a:fillRect/>
            </a:stretch>
          </p:blipFill>
          <p:spPr>
            <a:xfrm>
              <a:off x="0" y="0"/>
              <a:ext cx="9678889" cy="8728613"/>
            </a:xfrm>
            <a:prstGeom prst="rect">
              <a:avLst/>
            </a:prstGeom>
          </p:spPr>
        </p:pic>
      </p:grpSp>
      <p:grpSp>
        <p:nvGrpSpPr>
          <p:cNvPr name="Group 4" id="4"/>
          <p:cNvGrpSpPr/>
          <p:nvPr/>
        </p:nvGrpSpPr>
        <p:grpSpPr>
          <a:xfrm rot="0">
            <a:off x="1884834" y="1870270"/>
            <a:ext cx="6386353" cy="6546460"/>
            <a:chOff x="0" y="0"/>
            <a:chExt cx="5907123" cy="6055216"/>
          </a:xfrm>
        </p:grpSpPr>
        <p:sp>
          <p:nvSpPr>
            <p:cNvPr name="Freeform 5" id="5"/>
            <p:cNvSpPr/>
            <p:nvPr/>
          </p:nvSpPr>
          <p:spPr>
            <a:xfrm>
              <a:off x="0" y="0"/>
              <a:ext cx="5907123" cy="6055216"/>
            </a:xfrm>
            <a:custGeom>
              <a:avLst/>
              <a:gdLst/>
              <a:ahLst/>
              <a:cxnLst/>
              <a:rect r="r" b="b" t="t" l="l"/>
              <a:pathLst>
                <a:path h="6055216" w="5907123">
                  <a:moveTo>
                    <a:pt x="5782663" y="6055216"/>
                  </a:moveTo>
                  <a:lnTo>
                    <a:pt x="124460" y="6055216"/>
                  </a:lnTo>
                  <a:cubicBezTo>
                    <a:pt x="55880" y="6055216"/>
                    <a:pt x="0" y="5999335"/>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F4A0BA"/>
            </a:solidFill>
          </p:spPr>
        </p:sp>
      </p:gr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0" t="0" r="0" b="0"/>
          <a:stretch>
            <a:fillRect/>
          </a:stretch>
        </p:blipFill>
        <p:spPr>
          <a:xfrm flipH="false" flipV="false" rot="0">
            <a:off x="1967637" y="2138880"/>
            <a:ext cx="831315" cy="574309"/>
          </a:xfrm>
          <a:prstGeom prst="rect">
            <a:avLst/>
          </a:prstGeom>
        </p:spPr>
      </p:pic>
      <p:grpSp>
        <p:nvGrpSpPr>
          <p:cNvPr name="Group 7" id="7"/>
          <p:cNvGrpSpPr/>
          <p:nvPr/>
        </p:nvGrpSpPr>
        <p:grpSpPr>
          <a:xfrm rot="0">
            <a:off x="558707" y="0"/>
            <a:ext cx="1061111" cy="2426034"/>
            <a:chOff x="0" y="0"/>
            <a:chExt cx="2354580" cy="5383313"/>
          </a:xfrm>
        </p:grpSpPr>
        <p:sp>
          <p:nvSpPr>
            <p:cNvPr name="Freeform 8" id="8"/>
            <p:cNvSpPr/>
            <p:nvPr/>
          </p:nvSpPr>
          <p:spPr>
            <a:xfrm>
              <a:off x="0" y="0"/>
              <a:ext cx="2353310" cy="5383313"/>
            </a:xfrm>
            <a:custGeom>
              <a:avLst/>
              <a:gdLst/>
              <a:ahLst/>
              <a:cxnLst/>
              <a:rect r="r" b="b" t="t" l="l"/>
              <a:pathLst>
                <a:path h="5383313" w="2353310">
                  <a:moveTo>
                    <a:pt x="784860" y="5316003"/>
                  </a:moveTo>
                  <a:cubicBezTo>
                    <a:pt x="905510" y="5356643"/>
                    <a:pt x="1042670" y="5383313"/>
                    <a:pt x="1177290" y="5383313"/>
                  </a:cubicBezTo>
                  <a:cubicBezTo>
                    <a:pt x="1311910" y="5383313"/>
                    <a:pt x="1441450" y="5360453"/>
                    <a:pt x="1560830" y="5319813"/>
                  </a:cubicBezTo>
                  <a:cubicBezTo>
                    <a:pt x="1563370" y="5318543"/>
                    <a:pt x="1565910" y="5318543"/>
                    <a:pt x="1568450" y="5317273"/>
                  </a:cubicBezTo>
                  <a:cubicBezTo>
                    <a:pt x="2016760" y="5154713"/>
                    <a:pt x="2346960" y="4725453"/>
                    <a:pt x="2353310" y="4216067"/>
                  </a:cubicBezTo>
                  <a:lnTo>
                    <a:pt x="2353310" y="0"/>
                  </a:lnTo>
                  <a:lnTo>
                    <a:pt x="0" y="0"/>
                  </a:lnTo>
                  <a:lnTo>
                    <a:pt x="0" y="4212862"/>
                  </a:lnTo>
                  <a:cubicBezTo>
                    <a:pt x="6350" y="4727993"/>
                    <a:pt x="331470" y="5157253"/>
                    <a:pt x="784860" y="5316003"/>
                  </a:cubicBezTo>
                  <a:close/>
                </a:path>
              </a:pathLst>
            </a:custGeom>
            <a:solidFill>
              <a:srgbClr val="2C79BF"/>
            </a:solidFill>
          </p:spPr>
        </p:sp>
      </p:grpSp>
      <p:sp>
        <p:nvSpPr>
          <p:cNvPr name="TextBox 9" id="9"/>
          <p:cNvSpPr txBox="true"/>
          <p:nvPr/>
        </p:nvSpPr>
        <p:spPr>
          <a:xfrm rot="0">
            <a:off x="2798952" y="2530793"/>
            <a:ext cx="4558115" cy="5253990"/>
          </a:xfrm>
          <a:prstGeom prst="rect">
            <a:avLst/>
          </a:prstGeom>
        </p:spPr>
        <p:txBody>
          <a:bodyPr anchor="t" rtlCol="false" tIns="0" lIns="0" bIns="0" rIns="0">
            <a:spAutoFit/>
          </a:bodyPr>
          <a:lstStyle/>
          <a:p>
            <a:pPr>
              <a:lnSpc>
                <a:spcPts val="4620"/>
              </a:lnSpc>
            </a:pPr>
            <a:r>
              <a:rPr lang="en-US" sz="4200">
                <a:solidFill>
                  <a:srgbClr val="000000"/>
                </a:solidFill>
                <a:latin typeface="Antic"/>
              </a:rPr>
              <a:t>Technology is just a tool. In terms of getting the kids working together and motivating them, the teacher is the most important.</a:t>
            </a:r>
          </a:p>
          <a:p>
            <a:pPr>
              <a:lnSpc>
                <a:spcPts val="4620"/>
              </a:lnSpc>
            </a:pPr>
          </a:p>
          <a:p>
            <a:pPr algn="r" marL="0" indent="0" lvl="0">
              <a:lnSpc>
                <a:spcPts val="4620"/>
              </a:lnSpc>
              <a:spcBef>
                <a:spcPct val="0"/>
              </a:spcBef>
            </a:pPr>
            <a:r>
              <a:rPr lang="en-US" sz="4200">
                <a:solidFill>
                  <a:srgbClr val="000000"/>
                </a:solidFill>
                <a:latin typeface="Antic"/>
              </a:rPr>
              <a:t>-Bill Gates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E59A"/>
        </a:solidFill>
      </p:bgPr>
    </p:bg>
    <p:spTree>
      <p:nvGrpSpPr>
        <p:cNvPr id="1" name=""/>
        <p:cNvGrpSpPr/>
        <p:nvPr/>
      </p:nvGrpSpPr>
      <p:grpSpPr>
        <a:xfrm>
          <a:off x="0" y="0"/>
          <a:ext cx="0" cy="0"/>
          <a:chOff x="0" y="0"/>
          <a:chExt cx="0" cy="0"/>
        </a:xfrm>
      </p:grpSpPr>
      <p:grpSp>
        <p:nvGrpSpPr>
          <p:cNvPr name="Group 2" id="2"/>
          <p:cNvGrpSpPr/>
          <p:nvPr/>
        </p:nvGrpSpPr>
        <p:grpSpPr>
          <a:xfrm rot="5400000">
            <a:off x="17487209" y="-954330"/>
            <a:ext cx="2268331" cy="6941103"/>
            <a:chOff x="0" y="0"/>
            <a:chExt cx="2354580" cy="7205024"/>
          </a:xfrm>
        </p:grpSpPr>
        <p:sp>
          <p:nvSpPr>
            <p:cNvPr name="Freeform 3" id="3"/>
            <p:cNvSpPr/>
            <p:nvPr/>
          </p:nvSpPr>
          <p:spPr>
            <a:xfrm>
              <a:off x="0" y="0"/>
              <a:ext cx="2353310" cy="7205024"/>
            </a:xfrm>
            <a:custGeom>
              <a:avLst/>
              <a:gdLst/>
              <a:ahLst/>
              <a:cxnLst/>
              <a:rect r="r" b="b" t="t" l="l"/>
              <a:pathLst>
                <a:path h="7205024" w="2353310">
                  <a:moveTo>
                    <a:pt x="784860" y="7137714"/>
                  </a:moveTo>
                  <a:cubicBezTo>
                    <a:pt x="905510" y="7178354"/>
                    <a:pt x="1042670" y="7205024"/>
                    <a:pt x="1177290" y="7205024"/>
                  </a:cubicBezTo>
                  <a:cubicBezTo>
                    <a:pt x="1311910" y="7205024"/>
                    <a:pt x="1441450" y="7182164"/>
                    <a:pt x="1560830" y="7141524"/>
                  </a:cubicBezTo>
                  <a:cubicBezTo>
                    <a:pt x="1563370" y="7140254"/>
                    <a:pt x="1565910" y="7140254"/>
                    <a:pt x="1568450" y="7138984"/>
                  </a:cubicBezTo>
                  <a:cubicBezTo>
                    <a:pt x="2016760" y="6976424"/>
                    <a:pt x="2346960" y="6547164"/>
                    <a:pt x="2353310" y="6032173"/>
                  </a:cubicBezTo>
                  <a:lnTo>
                    <a:pt x="2353310" y="0"/>
                  </a:lnTo>
                  <a:lnTo>
                    <a:pt x="0" y="0"/>
                  </a:lnTo>
                  <a:lnTo>
                    <a:pt x="0" y="6027567"/>
                  </a:lnTo>
                  <a:cubicBezTo>
                    <a:pt x="6350" y="6549704"/>
                    <a:pt x="331470" y="6978964"/>
                    <a:pt x="784860" y="7137714"/>
                  </a:cubicBezTo>
                  <a:close/>
                </a:path>
              </a:pathLst>
            </a:custGeom>
            <a:solidFill>
              <a:srgbClr val="0A7679"/>
            </a:solidFill>
          </p:spPr>
        </p:sp>
      </p:grpSp>
      <p:sp>
        <p:nvSpPr>
          <p:cNvPr name="TextBox 4" id="4"/>
          <p:cNvSpPr txBox="true"/>
          <p:nvPr/>
        </p:nvSpPr>
        <p:spPr>
          <a:xfrm rot="0">
            <a:off x="1028700" y="866775"/>
            <a:ext cx="9881032" cy="1377949"/>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Project Description</a:t>
            </a:r>
            <a:r>
              <a:rPr lang="en-US" sz="8000">
                <a:solidFill>
                  <a:srgbClr val="000000"/>
                </a:solidFill>
                <a:latin typeface="League Spartan"/>
              </a:rPr>
              <a:t> </a:t>
            </a:r>
          </a:p>
        </p:txBody>
      </p:sp>
      <p:grpSp>
        <p:nvGrpSpPr>
          <p:cNvPr name="Group 5" id="5"/>
          <p:cNvGrpSpPr/>
          <p:nvPr/>
        </p:nvGrpSpPr>
        <p:grpSpPr>
          <a:xfrm rot="-10800000">
            <a:off x="14278434" y="7529677"/>
            <a:ext cx="2492693" cy="2757323"/>
            <a:chOff x="0" y="0"/>
            <a:chExt cx="2354580" cy="2604547"/>
          </a:xfrm>
        </p:grpSpPr>
        <p:sp>
          <p:nvSpPr>
            <p:cNvPr name="Freeform 6" id="6"/>
            <p:cNvSpPr/>
            <p:nvPr/>
          </p:nvSpPr>
          <p:spPr>
            <a:xfrm>
              <a:off x="0" y="0"/>
              <a:ext cx="2353310" cy="2604547"/>
            </a:xfrm>
            <a:custGeom>
              <a:avLst/>
              <a:gdLst/>
              <a:ahLst/>
              <a:cxnLst/>
              <a:rect r="r" b="b" t="t" l="l"/>
              <a:pathLst>
                <a:path h="2604547" w="2353310">
                  <a:moveTo>
                    <a:pt x="784860" y="2537237"/>
                  </a:moveTo>
                  <a:cubicBezTo>
                    <a:pt x="905510" y="2577877"/>
                    <a:pt x="1042670" y="2604547"/>
                    <a:pt x="1177290" y="2604547"/>
                  </a:cubicBezTo>
                  <a:cubicBezTo>
                    <a:pt x="1311910" y="2604547"/>
                    <a:pt x="1441450" y="2581687"/>
                    <a:pt x="1560830" y="2541047"/>
                  </a:cubicBezTo>
                  <a:cubicBezTo>
                    <a:pt x="1563370" y="2539777"/>
                    <a:pt x="1565910" y="2539777"/>
                    <a:pt x="1568450" y="2538507"/>
                  </a:cubicBezTo>
                  <a:cubicBezTo>
                    <a:pt x="2016760" y="2375947"/>
                    <a:pt x="2346960" y="1946687"/>
                    <a:pt x="2353310" y="1445851"/>
                  </a:cubicBezTo>
                  <a:lnTo>
                    <a:pt x="2353310" y="0"/>
                  </a:lnTo>
                  <a:lnTo>
                    <a:pt x="0" y="0"/>
                  </a:lnTo>
                  <a:lnTo>
                    <a:pt x="0" y="1444784"/>
                  </a:lnTo>
                  <a:cubicBezTo>
                    <a:pt x="6350" y="1949227"/>
                    <a:pt x="331470" y="2378487"/>
                    <a:pt x="784860" y="2537237"/>
                  </a:cubicBezTo>
                  <a:close/>
                </a:path>
              </a:pathLst>
            </a:custGeom>
            <a:solidFill>
              <a:srgbClr val="F80C1F"/>
            </a:solidFill>
          </p:spPr>
        </p:sp>
      </p:grpSp>
      <p:sp>
        <p:nvSpPr>
          <p:cNvPr name="TextBox 7" id="7"/>
          <p:cNvSpPr txBox="true"/>
          <p:nvPr/>
        </p:nvSpPr>
        <p:spPr>
          <a:xfrm rot="0">
            <a:off x="1028700" y="3317012"/>
            <a:ext cx="15742427" cy="5240655"/>
          </a:xfrm>
          <a:prstGeom prst="rect">
            <a:avLst/>
          </a:prstGeom>
        </p:spPr>
        <p:txBody>
          <a:bodyPr anchor="t" rtlCol="false" tIns="0" lIns="0" bIns="0" rIns="0">
            <a:spAutoFit/>
          </a:bodyPr>
          <a:lstStyle/>
          <a:p>
            <a:pPr marL="906780" indent="-453390" lvl="1">
              <a:lnSpc>
                <a:spcPts val="8400"/>
              </a:lnSpc>
              <a:buFont typeface="Arial"/>
              <a:buChar char="•"/>
            </a:pPr>
            <a:r>
              <a:rPr lang="en-US" sz="4200">
                <a:solidFill>
                  <a:srgbClr val="000000"/>
                </a:solidFill>
                <a:latin typeface="Antic"/>
              </a:rPr>
              <a:t>This project is smart city project which is based on IoT Technology</a:t>
            </a:r>
          </a:p>
          <a:p>
            <a:pPr algn="l" marL="906780" indent="-453390" lvl="1">
              <a:lnSpc>
                <a:spcPts val="8400"/>
              </a:lnSpc>
              <a:buFont typeface="Arial"/>
              <a:buChar char="•"/>
            </a:pPr>
            <a:r>
              <a:rPr lang="en-US" sz="4200">
                <a:solidFill>
                  <a:srgbClr val="000000"/>
                </a:solidFill>
                <a:latin typeface="Antic"/>
              </a:rPr>
              <a:t>In this system we make a smart manual operating street light which is used to perform task as per the weather needed and as per the developer need.</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A0BA"/>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2820213" cy="1377949"/>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Hardware Components</a:t>
            </a:r>
          </a:p>
        </p:txBody>
      </p:sp>
      <p:sp>
        <p:nvSpPr>
          <p:cNvPr name="TextBox 3" id="3"/>
          <p:cNvSpPr txBox="true"/>
          <p:nvPr/>
        </p:nvSpPr>
        <p:spPr>
          <a:xfrm rot="0">
            <a:off x="2883760" y="3317012"/>
            <a:ext cx="15742427" cy="4173855"/>
          </a:xfrm>
          <a:prstGeom prst="rect">
            <a:avLst/>
          </a:prstGeom>
        </p:spPr>
        <p:txBody>
          <a:bodyPr anchor="t" rtlCol="false" tIns="0" lIns="0" bIns="0" rIns="0">
            <a:spAutoFit/>
          </a:bodyPr>
          <a:lstStyle/>
          <a:p>
            <a:pPr marL="906780" indent="-453390" lvl="1">
              <a:lnSpc>
                <a:spcPts val="8400"/>
              </a:lnSpc>
              <a:buFont typeface="Arial"/>
              <a:buChar char="•"/>
            </a:pPr>
            <a:r>
              <a:rPr lang="en-US" sz="4200">
                <a:solidFill>
                  <a:srgbClr val="000000"/>
                </a:solidFill>
                <a:latin typeface="Antic"/>
              </a:rPr>
              <a:t>ESP32 DOIT DEVKIT V1 MODULE (30 PINS)</a:t>
            </a:r>
          </a:p>
          <a:p>
            <a:pPr marL="906780" indent="-453390" lvl="1">
              <a:lnSpc>
                <a:spcPts val="8400"/>
              </a:lnSpc>
              <a:buFont typeface="Arial"/>
              <a:buChar char="•"/>
            </a:pPr>
            <a:r>
              <a:rPr lang="en-US" sz="4200">
                <a:solidFill>
                  <a:srgbClr val="000000"/>
                </a:solidFill>
                <a:latin typeface="Antic"/>
              </a:rPr>
              <a:t>IR Sensor</a:t>
            </a:r>
          </a:p>
          <a:p>
            <a:pPr marL="906780" indent="-453390" lvl="1">
              <a:lnSpc>
                <a:spcPts val="8400"/>
              </a:lnSpc>
              <a:buFont typeface="Arial"/>
              <a:buChar char="•"/>
            </a:pPr>
            <a:r>
              <a:rPr lang="en-US" sz="4200">
                <a:solidFill>
                  <a:srgbClr val="000000"/>
                </a:solidFill>
                <a:latin typeface="Antic"/>
              </a:rPr>
              <a:t>LDR Sensor</a:t>
            </a:r>
          </a:p>
          <a:p>
            <a:pPr algn="l" marL="906780" indent="-453390" lvl="1">
              <a:lnSpc>
                <a:spcPts val="8400"/>
              </a:lnSpc>
              <a:buFont typeface="Arial"/>
              <a:buChar char="•"/>
            </a:pPr>
            <a:r>
              <a:rPr lang="en-US" sz="4200">
                <a:solidFill>
                  <a:srgbClr val="000000"/>
                </a:solidFill>
                <a:latin typeface="Antic"/>
              </a:rPr>
              <a:t>LEDs</a:t>
            </a:r>
          </a:p>
        </p:txBody>
      </p:sp>
      <p:grpSp>
        <p:nvGrpSpPr>
          <p:cNvPr name="Group 4" id="4"/>
          <p:cNvGrpSpPr/>
          <p:nvPr/>
        </p:nvGrpSpPr>
        <p:grpSpPr>
          <a:xfrm rot="-5400000">
            <a:off x="-2166727" y="93013"/>
            <a:ext cx="2487922" cy="7613051"/>
            <a:chOff x="0" y="0"/>
            <a:chExt cx="2354580" cy="7205024"/>
          </a:xfrm>
        </p:grpSpPr>
        <p:sp>
          <p:nvSpPr>
            <p:cNvPr name="Freeform 5" id="5"/>
            <p:cNvSpPr/>
            <p:nvPr/>
          </p:nvSpPr>
          <p:spPr>
            <a:xfrm>
              <a:off x="0" y="0"/>
              <a:ext cx="2353310" cy="7205024"/>
            </a:xfrm>
            <a:custGeom>
              <a:avLst/>
              <a:gdLst/>
              <a:ahLst/>
              <a:cxnLst/>
              <a:rect r="r" b="b" t="t" l="l"/>
              <a:pathLst>
                <a:path h="7205024" w="2353310">
                  <a:moveTo>
                    <a:pt x="784860" y="7137714"/>
                  </a:moveTo>
                  <a:cubicBezTo>
                    <a:pt x="905510" y="7178354"/>
                    <a:pt x="1042670" y="7205024"/>
                    <a:pt x="1177290" y="7205024"/>
                  </a:cubicBezTo>
                  <a:cubicBezTo>
                    <a:pt x="1311910" y="7205024"/>
                    <a:pt x="1441450" y="7182164"/>
                    <a:pt x="1560830" y="7141524"/>
                  </a:cubicBezTo>
                  <a:cubicBezTo>
                    <a:pt x="1563370" y="7140254"/>
                    <a:pt x="1565910" y="7140254"/>
                    <a:pt x="1568450" y="7138984"/>
                  </a:cubicBezTo>
                  <a:cubicBezTo>
                    <a:pt x="2016760" y="6976424"/>
                    <a:pt x="2346960" y="6547164"/>
                    <a:pt x="2353310" y="6032173"/>
                  </a:cubicBezTo>
                  <a:lnTo>
                    <a:pt x="2353310" y="0"/>
                  </a:lnTo>
                  <a:lnTo>
                    <a:pt x="0" y="0"/>
                  </a:lnTo>
                  <a:lnTo>
                    <a:pt x="0" y="6027567"/>
                  </a:lnTo>
                  <a:cubicBezTo>
                    <a:pt x="6350" y="6549704"/>
                    <a:pt x="331470" y="6978964"/>
                    <a:pt x="784860" y="7137714"/>
                  </a:cubicBezTo>
                  <a:close/>
                </a:path>
              </a:pathLst>
            </a:custGeom>
            <a:solidFill>
              <a:srgbClr val="0A7679"/>
            </a:solidFill>
          </p:spPr>
        </p:sp>
      </p:grpSp>
      <p:grpSp>
        <p:nvGrpSpPr>
          <p:cNvPr name="Group 6" id="6"/>
          <p:cNvGrpSpPr/>
          <p:nvPr/>
        </p:nvGrpSpPr>
        <p:grpSpPr>
          <a:xfrm rot="5400000">
            <a:off x="16363202" y="5974601"/>
            <a:ext cx="2492693" cy="4790871"/>
            <a:chOff x="0" y="0"/>
            <a:chExt cx="2354580" cy="4525422"/>
          </a:xfrm>
        </p:grpSpPr>
        <p:sp>
          <p:nvSpPr>
            <p:cNvPr name="Freeform 7" id="7"/>
            <p:cNvSpPr/>
            <p:nvPr/>
          </p:nvSpPr>
          <p:spPr>
            <a:xfrm>
              <a:off x="0" y="0"/>
              <a:ext cx="2353310" cy="4525422"/>
            </a:xfrm>
            <a:custGeom>
              <a:avLst/>
              <a:gdLst/>
              <a:ahLst/>
              <a:cxnLst/>
              <a:rect r="r" b="b" t="t" l="l"/>
              <a:pathLst>
                <a:path h="4525422" w="2353310">
                  <a:moveTo>
                    <a:pt x="784860" y="4458112"/>
                  </a:moveTo>
                  <a:cubicBezTo>
                    <a:pt x="905510" y="4498752"/>
                    <a:pt x="1042670" y="4525422"/>
                    <a:pt x="1177290" y="4525422"/>
                  </a:cubicBezTo>
                  <a:cubicBezTo>
                    <a:pt x="1311910" y="4525422"/>
                    <a:pt x="1441450" y="4502562"/>
                    <a:pt x="1560830" y="4461922"/>
                  </a:cubicBezTo>
                  <a:cubicBezTo>
                    <a:pt x="1563370" y="4460652"/>
                    <a:pt x="1565910" y="4460652"/>
                    <a:pt x="1568450" y="4459382"/>
                  </a:cubicBezTo>
                  <a:cubicBezTo>
                    <a:pt x="2016760" y="4296822"/>
                    <a:pt x="2346960" y="3867562"/>
                    <a:pt x="2353310" y="3360815"/>
                  </a:cubicBezTo>
                  <a:lnTo>
                    <a:pt x="2353310" y="0"/>
                  </a:lnTo>
                  <a:lnTo>
                    <a:pt x="0" y="0"/>
                  </a:lnTo>
                  <a:lnTo>
                    <a:pt x="0" y="3358271"/>
                  </a:lnTo>
                  <a:cubicBezTo>
                    <a:pt x="6350" y="3870102"/>
                    <a:pt x="331470" y="4299362"/>
                    <a:pt x="784860" y="4458112"/>
                  </a:cubicBezTo>
                  <a:close/>
                </a:path>
              </a:pathLst>
            </a:custGeom>
            <a:solidFill>
              <a:srgbClr val="FEE499"/>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4A0BA"/>
        </a:solidFill>
      </p:bgPr>
    </p:bg>
    <p:spTree>
      <p:nvGrpSpPr>
        <p:cNvPr id="1" name=""/>
        <p:cNvGrpSpPr/>
        <p:nvPr/>
      </p:nvGrpSpPr>
      <p:grpSpPr>
        <a:xfrm>
          <a:off x="0" y="0"/>
          <a:ext cx="0" cy="0"/>
          <a:chOff x="0" y="0"/>
          <a:chExt cx="0" cy="0"/>
        </a:xfrm>
      </p:grpSpPr>
      <p:grpSp>
        <p:nvGrpSpPr>
          <p:cNvPr name="Group 2" id="2"/>
          <p:cNvGrpSpPr/>
          <p:nvPr/>
        </p:nvGrpSpPr>
        <p:grpSpPr>
          <a:xfrm rot="-10800000">
            <a:off x="0" y="8293100"/>
            <a:ext cx="2659219" cy="2894151"/>
            <a:chOff x="0" y="0"/>
            <a:chExt cx="2354580" cy="2562599"/>
          </a:xfrm>
        </p:grpSpPr>
        <p:sp>
          <p:nvSpPr>
            <p:cNvPr name="Freeform 3" id="3"/>
            <p:cNvSpPr/>
            <p:nvPr/>
          </p:nvSpPr>
          <p:spPr>
            <a:xfrm>
              <a:off x="0" y="0"/>
              <a:ext cx="2353310" cy="2562599"/>
            </a:xfrm>
            <a:custGeom>
              <a:avLst/>
              <a:gdLst/>
              <a:ahLst/>
              <a:cxnLst/>
              <a:rect r="r" b="b" t="t" l="l"/>
              <a:pathLst>
                <a:path h="2562599" w="2353310">
                  <a:moveTo>
                    <a:pt x="784860" y="2495289"/>
                  </a:moveTo>
                  <a:cubicBezTo>
                    <a:pt x="905510" y="2535929"/>
                    <a:pt x="1042670" y="2562599"/>
                    <a:pt x="1177290" y="2562599"/>
                  </a:cubicBezTo>
                  <a:cubicBezTo>
                    <a:pt x="1311910" y="2562599"/>
                    <a:pt x="1441450" y="2539739"/>
                    <a:pt x="1560830" y="2499099"/>
                  </a:cubicBezTo>
                  <a:cubicBezTo>
                    <a:pt x="1563370" y="2497829"/>
                    <a:pt x="1565910" y="2497829"/>
                    <a:pt x="1568450" y="2496559"/>
                  </a:cubicBezTo>
                  <a:cubicBezTo>
                    <a:pt x="2016760" y="2333999"/>
                    <a:pt x="2346960" y="1904739"/>
                    <a:pt x="2353310" y="1404031"/>
                  </a:cubicBezTo>
                  <a:lnTo>
                    <a:pt x="2353310" y="0"/>
                  </a:lnTo>
                  <a:lnTo>
                    <a:pt x="0" y="0"/>
                  </a:lnTo>
                  <a:lnTo>
                    <a:pt x="0" y="1402997"/>
                  </a:lnTo>
                  <a:cubicBezTo>
                    <a:pt x="6350" y="1907279"/>
                    <a:pt x="331470" y="2336539"/>
                    <a:pt x="784860" y="2495289"/>
                  </a:cubicBezTo>
                  <a:close/>
                </a:path>
              </a:pathLst>
            </a:custGeom>
            <a:solidFill>
              <a:srgbClr val="F80C1F"/>
            </a:solidFill>
          </p:spPr>
        </p:sp>
      </p:grpSp>
      <p:sp>
        <p:nvSpPr>
          <p:cNvPr name="TextBox 4" id="4"/>
          <p:cNvSpPr txBox="true"/>
          <p:nvPr/>
        </p:nvSpPr>
        <p:spPr>
          <a:xfrm rot="0">
            <a:off x="1028700" y="2146935"/>
            <a:ext cx="16230600" cy="7374255"/>
          </a:xfrm>
          <a:prstGeom prst="rect">
            <a:avLst/>
          </a:prstGeom>
        </p:spPr>
        <p:txBody>
          <a:bodyPr anchor="t" rtlCol="false" tIns="0" lIns="0" bIns="0" rIns="0">
            <a:spAutoFit/>
          </a:bodyPr>
          <a:lstStyle/>
          <a:p>
            <a:pPr marL="906780" indent="-453390" lvl="1">
              <a:lnSpc>
                <a:spcPts val="8400"/>
              </a:lnSpc>
              <a:buFont typeface="Arial"/>
              <a:buChar char="•"/>
            </a:pPr>
            <a:r>
              <a:rPr lang="en-US" sz="4200">
                <a:solidFill>
                  <a:srgbClr val="000000"/>
                </a:solidFill>
                <a:latin typeface="Antic"/>
              </a:rPr>
              <a:t>The term "Internet of things" (IoT) refers to physical objects (or groups of such objects) equipped with sensors, computing power, software, and other technologies that communicate with one another and exchange data through the Internet or other communications networks.</a:t>
            </a:r>
          </a:p>
          <a:p>
            <a:pPr marL="906780" indent="-453390" lvl="1">
              <a:lnSpc>
                <a:spcPts val="8400"/>
              </a:lnSpc>
              <a:buFont typeface="Arial"/>
              <a:buChar char="•"/>
            </a:pPr>
            <a:r>
              <a:rPr lang="en-US" sz="4200">
                <a:solidFill>
                  <a:srgbClr val="000000"/>
                </a:solidFill>
                <a:latin typeface="Antic"/>
              </a:rPr>
              <a:t>The basic idea of a network of smart devices was originally proposed in 1982</a:t>
            </a:r>
          </a:p>
        </p:txBody>
      </p:sp>
      <p:grpSp>
        <p:nvGrpSpPr>
          <p:cNvPr name="Group 5" id="5"/>
          <p:cNvGrpSpPr/>
          <p:nvPr/>
        </p:nvGrpSpPr>
        <p:grpSpPr>
          <a:xfrm rot="0">
            <a:off x="16281787" y="-605790"/>
            <a:ext cx="3086100" cy="3086100"/>
            <a:chOff x="0" y="0"/>
            <a:chExt cx="812800" cy="812800"/>
          </a:xfrm>
        </p:grpSpPr>
        <p:sp>
          <p:nvSpPr>
            <p:cNvPr name="Freeform 6" id="6"/>
            <p:cNvSpPr/>
            <p:nvPr/>
          </p:nvSpPr>
          <p:spPr>
            <a:xfrm>
              <a:off x="1813" y="0"/>
              <a:ext cx="809173" cy="812800"/>
            </a:xfrm>
            <a:custGeom>
              <a:avLst/>
              <a:gdLst/>
              <a:ahLst/>
              <a:cxnLst/>
              <a:rect r="r" b="b" t="t" l="l"/>
              <a:pathLst>
                <a:path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C79B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866775"/>
            <a:ext cx="12820213" cy="1377949"/>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IoT Technology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E59A"/>
        </a:solidFill>
      </p:bgPr>
    </p:bg>
    <p:spTree>
      <p:nvGrpSpPr>
        <p:cNvPr id="1" name=""/>
        <p:cNvGrpSpPr/>
        <p:nvPr/>
      </p:nvGrpSpPr>
      <p:grpSpPr>
        <a:xfrm>
          <a:off x="0" y="0"/>
          <a:ext cx="0" cy="0"/>
          <a:chOff x="0" y="0"/>
          <a:chExt cx="0" cy="0"/>
        </a:xfrm>
      </p:grpSpPr>
      <p:sp>
        <p:nvSpPr>
          <p:cNvPr name="TextBox 2" id="2"/>
          <p:cNvSpPr txBox="true"/>
          <p:nvPr/>
        </p:nvSpPr>
        <p:spPr>
          <a:xfrm rot="0">
            <a:off x="1941346" y="3329507"/>
            <a:ext cx="14566071" cy="5497831"/>
          </a:xfrm>
          <a:prstGeom prst="rect">
            <a:avLst/>
          </a:prstGeom>
        </p:spPr>
        <p:txBody>
          <a:bodyPr anchor="t" rtlCol="false" tIns="0" lIns="0" bIns="0" rIns="0">
            <a:spAutoFit/>
          </a:bodyPr>
          <a:lstStyle/>
          <a:p>
            <a:pPr marL="906772" indent="-453386" lvl="1">
              <a:lnSpc>
                <a:spcPts val="6299"/>
              </a:lnSpc>
              <a:buFont typeface="Arial"/>
              <a:buChar char="•"/>
            </a:pPr>
            <a:r>
              <a:rPr lang="en-US" sz="4199">
                <a:solidFill>
                  <a:srgbClr val="000000"/>
                </a:solidFill>
                <a:latin typeface="Antic"/>
              </a:rPr>
              <a:t>Blynk is an IoT company which provides a platform for building mobile </a:t>
            </a:r>
            <a:r>
              <a:rPr lang="en-US" sz="4199">
                <a:solidFill>
                  <a:srgbClr val="000000"/>
                </a:solidFill>
                <a:latin typeface="Antic"/>
              </a:rPr>
              <a:t>applications that can connect electronic devices to the Internet and remotely monitor and control these devices.</a:t>
            </a:r>
          </a:p>
          <a:p>
            <a:pPr marL="906772" indent="-453386" lvl="1">
              <a:lnSpc>
                <a:spcPts val="6299"/>
              </a:lnSpc>
              <a:buFont typeface="Arial"/>
              <a:buChar char="•"/>
            </a:pPr>
            <a:r>
              <a:rPr lang="en-US" sz="4199">
                <a:solidFill>
                  <a:srgbClr val="000000"/>
                </a:solidFill>
                <a:latin typeface="Antic"/>
              </a:rPr>
              <a:t>Blynk was founded by  Pavel Bayborodin, who is a user experience (UX) expert in mobile and automotive space. </a:t>
            </a:r>
          </a:p>
          <a:p>
            <a:pPr algn="l" marL="906772" indent="-453386" lvl="1">
              <a:lnSpc>
                <a:spcPts val="6299"/>
              </a:lnSpc>
              <a:buFont typeface="Arial"/>
              <a:buChar char="•"/>
            </a:pPr>
            <a:r>
              <a:rPr lang="en-US" sz="4199">
                <a:solidFill>
                  <a:srgbClr val="000000"/>
                </a:solidFill>
                <a:latin typeface="Antic"/>
              </a:rPr>
              <a:t>The IoT platform was launched in 2014.</a:t>
            </a:r>
          </a:p>
        </p:txBody>
      </p:sp>
      <p:sp>
        <p:nvSpPr>
          <p:cNvPr name="TextBox 3" id="3"/>
          <p:cNvSpPr txBox="true"/>
          <p:nvPr/>
        </p:nvSpPr>
        <p:spPr>
          <a:xfrm rot="0">
            <a:off x="1941346" y="1996007"/>
            <a:ext cx="7266330" cy="122872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000000"/>
                </a:solidFill>
                <a:latin typeface="League Spartan"/>
              </a:rPr>
              <a:t>Blynk</a:t>
            </a:r>
          </a:p>
        </p:txBody>
      </p:sp>
      <p:grpSp>
        <p:nvGrpSpPr>
          <p:cNvPr name="Group 4" id="4"/>
          <p:cNvGrpSpPr/>
          <p:nvPr/>
        </p:nvGrpSpPr>
        <p:grpSpPr>
          <a:xfrm rot="0">
            <a:off x="252762" y="2902800"/>
            <a:ext cx="1589975" cy="1589975"/>
            <a:chOff x="0" y="0"/>
            <a:chExt cx="6350000" cy="6350000"/>
          </a:xfrm>
        </p:grpSpPr>
        <p:sp>
          <p:nvSpPr>
            <p:cNvPr name="Freeform 5" id="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0C1F"/>
            </a:solidFill>
          </p:spPr>
        </p:sp>
      </p:grpSp>
      <p:grpSp>
        <p:nvGrpSpPr>
          <p:cNvPr name="Group 6" id="6"/>
          <p:cNvGrpSpPr/>
          <p:nvPr/>
        </p:nvGrpSpPr>
        <p:grpSpPr>
          <a:xfrm rot="0">
            <a:off x="15476242" y="0"/>
            <a:ext cx="1783058" cy="1940585"/>
            <a:chOff x="0" y="0"/>
            <a:chExt cx="2354580" cy="2562599"/>
          </a:xfrm>
        </p:grpSpPr>
        <p:sp>
          <p:nvSpPr>
            <p:cNvPr name="Freeform 7" id="7"/>
            <p:cNvSpPr/>
            <p:nvPr/>
          </p:nvSpPr>
          <p:spPr>
            <a:xfrm>
              <a:off x="0" y="0"/>
              <a:ext cx="2353310" cy="2562599"/>
            </a:xfrm>
            <a:custGeom>
              <a:avLst/>
              <a:gdLst/>
              <a:ahLst/>
              <a:cxnLst/>
              <a:rect r="r" b="b" t="t" l="l"/>
              <a:pathLst>
                <a:path h="2562599" w="2353310">
                  <a:moveTo>
                    <a:pt x="784860" y="2495289"/>
                  </a:moveTo>
                  <a:cubicBezTo>
                    <a:pt x="905510" y="2535929"/>
                    <a:pt x="1042670" y="2562599"/>
                    <a:pt x="1177290" y="2562599"/>
                  </a:cubicBezTo>
                  <a:cubicBezTo>
                    <a:pt x="1311910" y="2562599"/>
                    <a:pt x="1441450" y="2539739"/>
                    <a:pt x="1560830" y="2499099"/>
                  </a:cubicBezTo>
                  <a:cubicBezTo>
                    <a:pt x="1563370" y="2497829"/>
                    <a:pt x="1565910" y="2497829"/>
                    <a:pt x="1568450" y="2496559"/>
                  </a:cubicBezTo>
                  <a:cubicBezTo>
                    <a:pt x="2016760" y="2333999"/>
                    <a:pt x="2346960" y="1904739"/>
                    <a:pt x="2353310" y="1404031"/>
                  </a:cubicBezTo>
                  <a:lnTo>
                    <a:pt x="2353310" y="0"/>
                  </a:lnTo>
                  <a:lnTo>
                    <a:pt x="0" y="0"/>
                  </a:lnTo>
                  <a:lnTo>
                    <a:pt x="0" y="1402997"/>
                  </a:lnTo>
                  <a:cubicBezTo>
                    <a:pt x="6350" y="1907279"/>
                    <a:pt x="331470" y="2336539"/>
                    <a:pt x="784860" y="2495289"/>
                  </a:cubicBezTo>
                  <a:close/>
                </a:path>
              </a:pathLst>
            </a:custGeom>
            <a:solidFill>
              <a:srgbClr val="0A7679"/>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59A"/>
        </a:solidFill>
      </p:bgPr>
    </p:bg>
    <p:spTree>
      <p:nvGrpSpPr>
        <p:cNvPr id="1" name=""/>
        <p:cNvGrpSpPr/>
        <p:nvPr/>
      </p:nvGrpSpPr>
      <p:grpSpPr>
        <a:xfrm>
          <a:off x="0" y="0"/>
          <a:ext cx="0" cy="0"/>
          <a:chOff x="0" y="0"/>
          <a:chExt cx="0" cy="0"/>
        </a:xfrm>
      </p:grpSpPr>
      <p:grpSp>
        <p:nvGrpSpPr>
          <p:cNvPr name="Group 2" id="2"/>
          <p:cNvGrpSpPr/>
          <p:nvPr/>
        </p:nvGrpSpPr>
        <p:grpSpPr>
          <a:xfrm rot="0">
            <a:off x="15476242" y="0"/>
            <a:ext cx="1783058" cy="1940585"/>
            <a:chOff x="0" y="0"/>
            <a:chExt cx="2354580" cy="2562599"/>
          </a:xfrm>
        </p:grpSpPr>
        <p:sp>
          <p:nvSpPr>
            <p:cNvPr name="Freeform 3" id="3"/>
            <p:cNvSpPr/>
            <p:nvPr/>
          </p:nvSpPr>
          <p:spPr>
            <a:xfrm>
              <a:off x="0" y="0"/>
              <a:ext cx="2353310" cy="2562599"/>
            </a:xfrm>
            <a:custGeom>
              <a:avLst/>
              <a:gdLst/>
              <a:ahLst/>
              <a:cxnLst/>
              <a:rect r="r" b="b" t="t" l="l"/>
              <a:pathLst>
                <a:path h="2562599" w="2353310">
                  <a:moveTo>
                    <a:pt x="784860" y="2495289"/>
                  </a:moveTo>
                  <a:cubicBezTo>
                    <a:pt x="905510" y="2535929"/>
                    <a:pt x="1042670" y="2562599"/>
                    <a:pt x="1177290" y="2562599"/>
                  </a:cubicBezTo>
                  <a:cubicBezTo>
                    <a:pt x="1311910" y="2562599"/>
                    <a:pt x="1441450" y="2539739"/>
                    <a:pt x="1560830" y="2499099"/>
                  </a:cubicBezTo>
                  <a:cubicBezTo>
                    <a:pt x="1563370" y="2497829"/>
                    <a:pt x="1565910" y="2497829"/>
                    <a:pt x="1568450" y="2496559"/>
                  </a:cubicBezTo>
                  <a:cubicBezTo>
                    <a:pt x="2016760" y="2333999"/>
                    <a:pt x="2346960" y="1904739"/>
                    <a:pt x="2353310" y="1404031"/>
                  </a:cubicBezTo>
                  <a:lnTo>
                    <a:pt x="2353310" y="0"/>
                  </a:lnTo>
                  <a:lnTo>
                    <a:pt x="0" y="0"/>
                  </a:lnTo>
                  <a:lnTo>
                    <a:pt x="0" y="1402997"/>
                  </a:lnTo>
                  <a:cubicBezTo>
                    <a:pt x="6350" y="1907279"/>
                    <a:pt x="331470" y="2336539"/>
                    <a:pt x="784860" y="2495289"/>
                  </a:cubicBezTo>
                  <a:close/>
                </a:path>
              </a:pathLst>
            </a:custGeom>
            <a:solidFill>
              <a:srgbClr val="F4A0BA"/>
            </a:solidFill>
          </p:spPr>
        </p:sp>
      </p:grpSp>
      <p:grpSp>
        <p:nvGrpSpPr>
          <p:cNvPr name="Group 4" id="4"/>
          <p:cNvGrpSpPr/>
          <p:nvPr/>
        </p:nvGrpSpPr>
        <p:grpSpPr>
          <a:xfrm rot="0">
            <a:off x="1028700" y="1028700"/>
            <a:ext cx="6911007" cy="1318710"/>
            <a:chOff x="0" y="0"/>
            <a:chExt cx="5867562" cy="1119607"/>
          </a:xfrm>
        </p:grpSpPr>
        <p:sp>
          <p:nvSpPr>
            <p:cNvPr name="Freeform 5" id="5"/>
            <p:cNvSpPr/>
            <p:nvPr/>
          </p:nvSpPr>
          <p:spPr>
            <a:xfrm>
              <a:off x="0" y="0"/>
              <a:ext cx="5867562" cy="1119607"/>
            </a:xfrm>
            <a:custGeom>
              <a:avLst/>
              <a:gdLst/>
              <a:ahLst/>
              <a:cxnLst/>
              <a:rect r="r" b="b" t="t" l="l"/>
              <a:pathLst>
                <a:path h="1119607" w="5867562">
                  <a:moveTo>
                    <a:pt x="5743101" y="1119607"/>
                  </a:moveTo>
                  <a:lnTo>
                    <a:pt x="124460" y="1119607"/>
                  </a:lnTo>
                  <a:cubicBezTo>
                    <a:pt x="55880" y="1119607"/>
                    <a:pt x="0" y="1063727"/>
                    <a:pt x="0" y="995147"/>
                  </a:cubicBezTo>
                  <a:lnTo>
                    <a:pt x="0" y="124460"/>
                  </a:lnTo>
                  <a:cubicBezTo>
                    <a:pt x="0" y="55880"/>
                    <a:pt x="55880" y="0"/>
                    <a:pt x="124460" y="0"/>
                  </a:cubicBezTo>
                  <a:lnTo>
                    <a:pt x="5743102" y="0"/>
                  </a:lnTo>
                  <a:cubicBezTo>
                    <a:pt x="5811682" y="0"/>
                    <a:pt x="5867562" y="55880"/>
                    <a:pt x="5867562" y="124460"/>
                  </a:cubicBezTo>
                  <a:lnTo>
                    <a:pt x="5867562" y="995147"/>
                  </a:lnTo>
                  <a:cubicBezTo>
                    <a:pt x="5867562" y="1063727"/>
                    <a:pt x="5811682" y="1119607"/>
                    <a:pt x="5743102" y="1119607"/>
                  </a:cubicBezTo>
                  <a:close/>
                </a:path>
              </a:pathLst>
            </a:custGeom>
            <a:solidFill>
              <a:srgbClr val="EDEDED"/>
            </a:solidFill>
          </p:spPr>
        </p:sp>
      </p:grpSp>
      <p:grpSp>
        <p:nvGrpSpPr>
          <p:cNvPr name="Group 6" id="6"/>
          <p:cNvGrpSpPr>
            <a:grpSpLocks noChangeAspect="true"/>
          </p:cNvGrpSpPr>
          <p:nvPr/>
        </p:nvGrpSpPr>
        <p:grpSpPr>
          <a:xfrm rot="0">
            <a:off x="9216643" y="1517172"/>
            <a:ext cx="8042657" cy="7741128"/>
            <a:chOff x="30480" y="591820"/>
            <a:chExt cx="12736830" cy="12259310"/>
          </a:xfrm>
        </p:grpSpPr>
        <p:sp>
          <p:nvSpPr>
            <p:cNvPr name="Freeform 7" id="7"/>
            <p:cNvSpPr/>
            <p:nvPr/>
          </p:nvSpPr>
          <p:spPr>
            <a:xfrm>
              <a:off x="30480" y="591820"/>
              <a:ext cx="12736830" cy="12259310"/>
            </a:xfrm>
            <a:custGeom>
              <a:avLst/>
              <a:gdLst/>
              <a:ahLst/>
              <a:cxnLst/>
              <a:rect r="r" b="b" t="t" l="l"/>
              <a:pathLst>
                <a:path h="12259310" w="12736830">
                  <a:moveTo>
                    <a:pt x="11925300" y="4271010"/>
                  </a:moveTo>
                  <a:cubicBezTo>
                    <a:pt x="10819131" y="2120900"/>
                    <a:pt x="8590281"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19"/>
                    <a:pt x="1822450" y="10811510"/>
                    <a:pt x="2842260" y="11203940"/>
                  </a:cubicBezTo>
                  <a:cubicBezTo>
                    <a:pt x="5585460" y="12259310"/>
                    <a:pt x="8953500"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2"/>
              <a:stretch>
                <a:fillRect l="-243" r="243" t="-9431" b="837"/>
              </a:stretch>
            </a:blipFill>
          </p:spPr>
        </p:sp>
      </p:grpSp>
      <p:sp>
        <p:nvSpPr>
          <p:cNvPr name="TextBox 8" id="8"/>
          <p:cNvSpPr txBox="true"/>
          <p:nvPr/>
        </p:nvSpPr>
        <p:spPr>
          <a:xfrm rot="0">
            <a:off x="1257815" y="1194885"/>
            <a:ext cx="7266330" cy="122872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000000"/>
                </a:solidFill>
                <a:latin typeface="League Spartan"/>
              </a:rPr>
              <a:t>ESP32</a:t>
            </a:r>
          </a:p>
        </p:txBody>
      </p:sp>
      <p:sp>
        <p:nvSpPr>
          <p:cNvPr name="TextBox 9" id="9"/>
          <p:cNvSpPr txBox="true"/>
          <p:nvPr/>
        </p:nvSpPr>
        <p:spPr>
          <a:xfrm rot="0">
            <a:off x="1028700" y="2442210"/>
            <a:ext cx="9091111" cy="6307455"/>
          </a:xfrm>
          <a:prstGeom prst="rect">
            <a:avLst/>
          </a:prstGeom>
        </p:spPr>
        <p:txBody>
          <a:bodyPr anchor="t" rtlCol="false" tIns="0" lIns="0" bIns="0" rIns="0">
            <a:spAutoFit/>
          </a:bodyPr>
          <a:lstStyle/>
          <a:p>
            <a:pPr marL="906780" indent="-453390" lvl="1">
              <a:lnSpc>
                <a:spcPts val="8400"/>
              </a:lnSpc>
              <a:spcBef>
                <a:spcPct val="0"/>
              </a:spcBef>
              <a:buFont typeface="Arial"/>
              <a:buChar char="•"/>
            </a:pPr>
            <a:r>
              <a:rPr lang="en-US" sz="4200">
                <a:solidFill>
                  <a:srgbClr val="000000"/>
                </a:solidFill>
                <a:latin typeface="Antic"/>
              </a:rPr>
              <a:t>ESP32 is a  series of low-cost, low-power system on </a:t>
            </a:r>
            <a:r>
              <a:rPr lang="en-US" sz="4200">
                <a:solidFill>
                  <a:srgbClr val="000000"/>
                </a:solidFill>
                <a:latin typeface="Antic"/>
              </a:rPr>
              <a:t>chip microcontrollers with integrated Wi-Fi and dual-mode Bluetooth.</a:t>
            </a:r>
          </a:p>
          <a:p>
            <a:pPr marL="906780" indent="-453390" lvl="1">
              <a:lnSpc>
                <a:spcPts val="8400"/>
              </a:lnSpc>
              <a:spcBef>
                <a:spcPct val="0"/>
              </a:spcBef>
              <a:buFont typeface="Arial"/>
              <a:buChar char="•"/>
            </a:pPr>
            <a:r>
              <a:rPr lang="en-US" sz="4200">
                <a:solidFill>
                  <a:srgbClr val="000000"/>
                </a:solidFill>
                <a:latin typeface="Antic"/>
              </a:rPr>
              <a:t>ESP32 is created and developed by Espressif Systems.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A0BA"/>
        </a:solidFill>
      </p:bgPr>
    </p:bg>
    <p:spTree>
      <p:nvGrpSpPr>
        <p:cNvPr id="1" name=""/>
        <p:cNvGrpSpPr/>
        <p:nvPr/>
      </p:nvGrpSpPr>
      <p:grpSpPr>
        <a:xfrm>
          <a:off x="0" y="0"/>
          <a:ext cx="0" cy="0"/>
          <a:chOff x="0" y="0"/>
          <a:chExt cx="0" cy="0"/>
        </a:xfrm>
      </p:grpSpPr>
      <p:grpSp>
        <p:nvGrpSpPr>
          <p:cNvPr name="Group 2" id="2"/>
          <p:cNvGrpSpPr/>
          <p:nvPr/>
        </p:nvGrpSpPr>
        <p:grpSpPr>
          <a:xfrm rot="-10800000">
            <a:off x="0" y="8372732"/>
            <a:ext cx="2492693" cy="1914268"/>
            <a:chOff x="0" y="0"/>
            <a:chExt cx="2354580" cy="1808204"/>
          </a:xfrm>
        </p:grpSpPr>
        <p:sp>
          <p:nvSpPr>
            <p:cNvPr name="Freeform 3" id="3"/>
            <p:cNvSpPr/>
            <p:nvPr/>
          </p:nvSpPr>
          <p:spPr>
            <a:xfrm>
              <a:off x="0" y="0"/>
              <a:ext cx="2353310" cy="1808204"/>
            </a:xfrm>
            <a:custGeom>
              <a:avLst/>
              <a:gdLst/>
              <a:ahLst/>
              <a:cxnLst/>
              <a:rect r="r" b="b" t="t" l="l"/>
              <a:pathLst>
                <a:path h="1808204" w="2353310">
                  <a:moveTo>
                    <a:pt x="784860" y="1740894"/>
                  </a:moveTo>
                  <a:cubicBezTo>
                    <a:pt x="905510" y="1781534"/>
                    <a:pt x="1042670" y="1808204"/>
                    <a:pt x="1177290" y="1808204"/>
                  </a:cubicBezTo>
                  <a:cubicBezTo>
                    <a:pt x="1311910" y="1808204"/>
                    <a:pt x="1441450" y="1785344"/>
                    <a:pt x="1560830" y="1744704"/>
                  </a:cubicBezTo>
                  <a:cubicBezTo>
                    <a:pt x="1563370" y="1743434"/>
                    <a:pt x="1565910" y="1743434"/>
                    <a:pt x="1568450" y="1742164"/>
                  </a:cubicBezTo>
                  <a:cubicBezTo>
                    <a:pt x="2016760" y="1579604"/>
                    <a:pt x="2346960" y="1150344"/>
                    <a:pt x="2353310" y="651957"/>
                  </a:cubicBezTo>
                  <a:lnTo>
                    <a:pt x="2353310" y="0"/>
                  </a:lnTo>
                  <a:lnTo>
                    <a:pt x="0" y="0"/>
                  </a:lnTo>
                  <a:lnTo>
                    <a:pt x="0" y="651503"/>
                  </a:lnTo>
                  <a:cubicBezTo>
                    <a:pt x="6350" y="1152884"/>
                    <a:pt x="331470" y="1582144"/>
                    <a:pt x="784860" y="1740894"/>
                  </a:cubicBezTo>
                  <a:close/>
                </a:path>
              </a:pathLst>
            </a:custGeom>
            <a:solidFill>
              <a:srgbClr val="2C79BF"/>
            </a:solidFill>
          </p:spPr>
        </p:sp>
      </p:grpSp>
      <p:pic>
        <p:nvPicPr>
          <p:cNvPr name="Picture 4" id="4"/>
          <p:cNvPicPr>
            <a:picLocks noChangeAspect="true"/>
          </p:cNvPicPr>
          <p:nvPr/>
        </p:nvPicPr>
        <p:blipFill>
          <a:blip r:embed="rId2"/>
          <a:srcRect l="0" t="0" r="0" b="0"/>
          <a:stretch>
            <a:fillRect/>
          </a:stretch>
        </p:blipFill>
        <p:spPr>
          <a:xfrm flipH="false" flipV="false" rot="0">
            <a:off x="6207837" y="1321127"/>
            <a:ext cx="11051463" cy="7382740"/>
          </a:xfrm>
          <a:prstGeom prst="rect">
            <a:avLst/>
          </a:prstGeom>
        </p:spPr>
      </p:pic>
      <p:sp>
        <p:nvSpPr>
          <p:cNvPr name="TextBox 5" id="5"/>
          <p:cNvSpPr txBox="true"/>
          <p:nvPr/>
        </p:nvSpPr>
        <p:spPr>
          <a:xfrm rot="0">
            <a:off x="1019175" y="2054906"/>
            <a:ext cx="5457176" cy="488632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000000"/>
                </a:solidFill>
                <a:latin typeface="League Spartan"/>
              </a:rPr>
              <a:t>Proposed System Block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A0BA"/>
        </a:solidFill>
      </p:bgPr>
    </p:bg>
    <p:spTree>
      <p:nvGrpSpPr>
        <p:cNvPr id="1" name=""/>
        <p:cNvGrpSpPr/>
        <p:nvPr/>
      </p:nvGrpSpPr>
      <p:grpSpPr>
        <a:xfrm>
          <a:off x="0" y="0"/>
          <a:ext cx="0" cy="0"/>
          <a:chOff x="0" y="0"/>
          <a:chExt cx="0" cy="0"/>
        </a:xfrm>
      </p:grpSpPr>
      <p:grpSp>
        <p:nvGrpSpPr>
          <p:cNvPr name="Group 2" id="2"/>
          <p:cNvGrpSpPr/>
          <p:nvPr/>
        </p:nvGrpSpPr>
        <p:grpSpPr>
          <a:xfrm rot="0">
            <a:off x="252762" y="2902800"/>
            <a:ext cx="1589975" cy="1589975"/>
            <a:chOff x="0" y="0"/>
            <a:chExt cx="6350000" cy="6350000"/>
          </a:xfrm>
        </p:grpSpPr>
        <p:sp>
          <p:nvSpPr>
            <p:cNvPr name="Freeform 3" id="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C79BF"/>
            </a:solidFill>
          </p:spPr>
        </p:sp>
      </p:grpSp>
      <p:grpSp>
        <p:nvGrpSpPr>
          <p:cNvPr name="Group 4" id="4"/>
          <p:cNvGrpSpPr/>
          <p:nvPr/>
        </p:nvGrpSpPr>
        <p:grpSpPr>
          <a:xfrm rot="0">
            <a:off x="1047750" y="1028700"/>
            <a:ext cx="5399436" cy="4226008"/>
            <a:chOff x="0" y="0"/>
            <a:chExt cx="2670031" cy="2089769"/>
          </a:xfrm>
        </p:grpSpPr>
        <p:sp>
          <p:nvSpPr>
            <p:cNvPr name="Freeform 5" id="5"/>
            <p:cNvSpPr/>
            <p:nvPr/>
          </p:nvSpPr>
          <p:spPr>
            <a:xfrm>
              <a:off x="0" y="0"/>
              <a:ext cx="2670031" cy="2089769"/>
            </a:xfrm>
            <a:custGeom>
              <a:avLst/>
              <a:gdLst/>
              <a:ahLst/>
              <a:cxnLst/>
              <a:rect r="r" b="b" t="t" l="l"/>
              <a:pathLst>
                <a:path h="2089769" w="2670031">
                  <a:moveTo>
                    <a:pt x="2545571" y="2089769"/>
                  </a:moveTo>
                  <a:lnTo>
                    <a:pt x="124460" y="2089769"/>
                  </a:lnTo>
                  <a:cubicBezTo>
                    <a:pt x="55880" y="2089769"/>
                    <a:pt x="0" y="2033889"/>
                    <a:pt x="0" y="1965309"/>
                  </a:cubicBezTo>
                  <a:lnTo>
                    <a:pt x="0" y="124460"/>
                  </a:lnTo>
                  <a:cubicBezTo>
                    <a:pt x="0" y="55880"/>
                    <a:pt x="55880" y="0"/>
                    <a:pt x="124460" y="0"/>
                  </a:cubicBezTo>
                  <a:lnTo>
                    <a:pt x="2545571" y="0"/>
                  </a:lnTo>
                  <a:cubicBezTo>
                    <a:pt x="2614151" y="0"/>
                    <a:pt x="2670031" y="55880"/>
                    <a:pt x="2670031" y="124460"/>
                  </a:cubicBezTo>
                  <a:lnTo>
                    <a:pt x="2670031" y="1965309"/>
                  </a:lnTo>
                  <a:cubicBezTo>
                    <a:pt x="2670031" y="2033889"/>
                    <a:pt x="2614151" y="2089769"/>
                    <a:pt x="2545571" y="2089769"/>
                  </a:cubicBezTo>
                  <a:close/>
                </a:path>
              </a:pathLst>
            </a:custGeom>
            <a:solidFill>
              <a:srgbClr val="EDEDED"/>
            </a:solidFill>
          </p:spPr>
        </p:sp>
      </p:grpSp>
      <p:grpSp>
        <p:nvGrpSpPr>
          <p:cNvPr name="Group 6" id="6"/>
          <p:cNvGrpSpPr/>
          <p:nvPr/>
        </p:nvGrpSpPr>
        <p:grpSpPr>
          <a:xfrm rot="0">
            <a:off x="15476242" y="0"/>
            <a:ext cx="1783058" cy="1940585"/>
            <a:chOff x="0" y="0"/>
            <a:chExt cx="2354580" cy="2562599"/>
          </a:xfrm>
        </p:grpSpPr>
        <p:sp>
          <p:nvSpPr>
            <p:cNvPr name="Freeform 7" id="7"/>
            <p:cNvSpPr/>
            <p:nvPr/>
          </p:nvSpPr>
          <p:spPr>
            <a:xfrm>
              <a:off x="0" y="0"/>
              <a:ext cx="2353310" cy="2562599"/>
            </a:xfrm>
            <a:custGeom>
              <a:avLst/>
              <a:gdLst/>
              <a:ahLst/>
              <a:cxnLst/>
              <a:rect r="r" b="b" t="t" l="l"/>
              <a:pathLst>
                <a:path h="2562599" w="2353310">
                  <a:moveTo>
                    <a:pt x="784860" y="2495289"/>
                  </a:moveTo>
                  <a:cubicBezTo>
                    <a:pt x="905510" y="2535929"/>
                    <a:pt x="1042670" y="2562599"/>
                    <a:pt x="1177290" y="2562599"/>
                  </a:cubicBezTo>
                  <a:cubicBezTo>
                    <a:pt x="1311910" y="2562599"/>
                    <a:pt x="1441450" y="2539739"/>
                    <a:pt x="1560830" y="2499099"/>
                  </a:cubicBezTo>
                  <a:cubicBezTo>
                    <a:pt x="1563370" y="2497829"/>
                    <a:pt x="1565910" y="2497829"/>
                    <a:pt x="1568450" y="2496559"/>
                  </a:cubicBezTo>
                  <a:cubicBezTo>
                    <a:pt x="2016760" y="2333999"/>
                    <a:pt x="2346960" y="1904739"/>
                    <a:pt x="2353310" y="1404031"/>
                  </a:cubicBezTo>
                  <a:lnTo>
                    <a:pt x="2353310" y="0"/>
                  </a:lnTo>
                  <a:lnTo>
                    <a:pt x="0" y="0"/>
                  </a:lnTo>
                  <a:lnTo>
                    <a:pt x="0" y="1402997"/>
                  </a:lnTo>
                  <a:cubicBezTo>
                    <a:pt x="6350" y="1907279"/>
                    <a:pt x="331470" y="2336539"/>
                    <a:pt x="784860" y="2495289"/>
                  </a:cubicBezTo>
                  <a:close/>
                </a:path>
              </a:pathLst>
            </a:custGeom>
            <a:solidFill>
              <a:srgbClr val="0A7679"/>
            </a:solidFill>
          </p:spPr>
        </p:sp>
      </p:grpSp>
      <p:pic>
        <p:nvPicPr>
          <p:cNvPr name="Picture 8" id="8"/>
          <p:cNvPicPr>
            <a:picLocks noChangeAspect="true"/>
          </p:cNvPicPr>
          <p:nvPr/>
        </p:nvPicPr>
        <p:blipFill>
          <a:blip r:embed="rId2"/>
          <a:srcRect l="0" t="0" r="0" b="0"/>
          <a:stretch>
            <a:fillRect/>
          </a:stretch>
        </p:blipFill>
        <p:spPr>
          <a:xfrm flipH="false" flipV="false" rot="0">
            <a:off x="7832900" y="970293"/>
            <a:ext cx="8534871" cy="8229600"/>
          </a:xfrm>
          <a:prstGeom prst="rect">
            <a:avLst/>
          </a:prstGeom>
        </p:spPr>
      </p:pic>
      <p:sp>
        <p:nvSpPr>
          <p:cNvPr name="TextBox 9" id="9"/>
          <p:cNvSpPr txBox="true"/>
          <p:nvPr/>
        </p:nvSpPr>
        <p:spPr>
          <a:xfrm rot="0">
            <a:off x="1352550" y="1038309"/>
            <a:ext cx="5399436" cy="4216399"/>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Program Flow Chart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59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5400000">
            <a:off x="7658100" y="-342900"/>
            <a:ext cx="8229600" cy="10972800"/>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5689255" y="803950"/>
            <a:ext cx="12281652" cy="8842789"/>
          </a:xfrm>
          <a:prstGeom prst="rect">
            <a:avLst/>
          </a:prstGeom>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1575262" y="1601952"/>
            <a:ext cx="1133599" cy="1045448"/>
          </a:xfrm>
          <a:prstGeom prst="rect">
            <a:avLst/>
          </a:prstGeom>
        </p:spPr>
      </p:pic>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2967105" y="5817129"/>
            <a:ext cx="1133599" cy="1045448"/>
          </a:xfrm>
          <a:prstGeom prst="rect">
            <a:avLst/>
          </a:prstGeom>
        </p:spPr>
      </p:pic>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3813419">
            <a:off x="11912292" y="7685934"/>
            <a:ext cx="1133599" cy="1045448"/>
          </a:xfrm>
          <a:prstGeom prst="rect">
            <a:avLst/>
          </a:prstGeom>
        </p:spPr>
      </p:pic>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2836219">
            <a:off x="6701948" y="3679277"/>
            <a:ext cx="1133599" cy="1045448"/>
          </a:xfrm>
          <a:prstGeom prst="rect">
            <a:avLst/>
          </a:prstGeom>
        </p:spPr>
      </p:pic>
      <p:grpSp>
        <p:nvGrpSpPr>
          <p:cNvPr name="Group 8" id="8"/>
          <p:cNvGrpSpPr/>
          <p:nvPr/>
        </p:nvGrpSpPr>
        <p:grpSpPr>
          <a:xfrm rot="0">
            <a:off x="558707" y="0"/>
            <a:ext cx="2249689" cy="5143500"/>
            <a:chOff x="0" y="0"/>
            <a:chExt cx="2354580" cy="5383313"/>
          </a:xfrm>
        </p:grpSpPr>
        <p:sp>
          <p:nvSpPr>
            <p:cNvPr name="Freeform 9" id="9"/>
            <p:cNvSpPr/>
            <p:nvPr/>
          </p:nvSpPr>
          <p:spPr>
            <a:xfrm>
              <a:off x="0" y="0"/>
              <a:ext cx="2353310" cy="5383313"/>
            </a:xfrm>
            <a:custGeom>
              <a:avLst/>
              <a:gdLst/>
              <a:ahLst/>
              <a:cxnLst/>
              <a:rect r="r" b="b" t="t" l="l"/>
              <a:pathLst>
                <a:path h="5383313" w="2353310">
                  <a:moveTo>
                    <a:pt x="784860" y="5316003"/>
                  </a:moveTo>
                  <a:cubicBezTo>
                    <a:pt x="905510" y="5356643"/>
                    <a:pt x="1042670" y="5383313"/>
                    <a:pt x="1177290" y="5383313"/>
                  </a:cubicBezTo>
                  <a:cubicBezTo>
                    <a:pt x="1311910" y="5383313"/>
                    <a:pt x="1441450" y="5360453"/>
                    <a:pt x="1560830" y="5319813"/>
                  </a:cubicBezTo>
                  <a:cubicBezTo>
                    <a:pt x="1563370" y="5318543"/>
                    <a:pt x="1565910" y="5318543"/>
                    <a:pt x="1568450" y="5317273"/>
                  </a:cubicBezTo>
                  <a:cubicBezTo>
                    <a:pt x="2016760" y="5154713"/>
                    <a:pt x="2346960" y="4725453"/>
                    <a:pt x="2353310" y="4216067"/>
                  </a:cubicBezTo>
                  <a:lnTo>
                    <a:pt x="2353310" y="0"/>
                  </a:lnTo>
                  <a:lnTo>
                    <a:pt x="0" y="0"/>
                  </a:lnTo>
                  <a:lnTo>
                    <a:pt x="0" y="4212862"/>
                  </a:lnTo>
                  <a:cubicBezTo>
                    <a:pt x="6350" y="4727993"/>
                    <a:pt x="331470" y="5157253"/>
                    <a:pt x="784860" y="5316003"/>
                  </a:cubicBezTo>
                  <a:close/>
                </a:path>
              </a:pathLst>
            </a:custGeom>
            <a:solidFill>
              <a:srgbClr val="F15C68"/>
            </a:solidFill>
          </p:spPr>
        </p:sp>
      </p:grpSp>
      <p:sp>
        <p:nvSpPr>
          <p:cNvPr name="TextBox 10" id="10"/>
          <p:cNvSpPr txBox="true"/>
          <p:nvPr/>
        </p:nvSpPr>
        <p:spPr>
          <a:xfrm rot="0">
            <a:off x="558707" y="1648411"/>
            <a:ext cx="5271453" cy="1979290"/>
          </a:xfrm>
          <a:prstGeom prst="rect">
            <a:avLst/>
          </a:prstGeom>
        </p:spPr>
        <p:txBody>
          <a:bodyPr anchor="t" rtlCol="false" tIns="0" lIns="0" bIns="0" rIns="0">
            <a:spAutoFit/>
          </a:bodyPr>
          <a:lstStyle/>
          <a:p>
            <a:pPr algn="l">
              <a:lnSpc>
                <a:spcPts val="7980"/>
              </a:lnSpc>
            </a:pPr>
            <a:r>
              <a:rPr lang="en-US" sz="5700">
                <a:solidFill>
                  <a:srgbClr val="000000"/>
                </a:solidFill>
                <a:latin typeface="League Spartan"/>
              </a:rPr>
              <a:t>Experimental Set-up</a:t>
            </a:r>
          </a:p>
        </p:txBody>
      </p:sp>
      <p:sp>
        <p:nvSpPr>
          <p:cNvPr name="TextBox 11" id="11"/>
          <p:cNvSpPr txBox="true"/>
          <p:nvPr/>
        </p:nvSpPr>
        <p:spPr>
          <a:xfrm rot="-2127852">
            <a:off x="6506296" y="2329896"/>
            <a:ext cx="2361307" cy="580390"/>
          </a:xfrm>
          <a:prstGeom prst="rect">
            <a:avLst/>
          </a:prstGeom>
        </p:spPr>
        <p:txBody>
          <a:bodyPr anchor="t" rtlCol="false" tIns="0" lIns="0" bIns="0" rIns="0">
            <a:spAutoFit/>
          </a:bodyPr>
          <a:lstStyle/>
          <a:p>
            <a:pPr algn="ctr">
              <a:lnSpc>
                <a:spcPts val="4759"/>
              </a:lnSpc>
            </a:pPr>
            <a:r>
              <a:rPr lang="en-US" sz="3399">
                <a:solidFill>
                  <a:srgbClr val="F80C1F"/>
                </a:solidFill>
                <a:latin typeface="Open Sans Light Bold"/>
              </a:rPr>
              <a:t>Esp32 Bord</a:t>
            </a:r>
          </a:p>
        </p:txBody>
      </p:sp>
      <p:sp>
        <p:nvSpPr>
          <p:cNvPr name="TextBox 12" id="12"/>
          <p:cNvSpPr txBox="true"/>
          <p:nvPr/>
        </p:nvSpPr>
        <p:spPr>
          <a:xfrm rot="0">
            <a:off x="12904622" y="1429654"/>
            <a:ext cx="1157982" cy="580390"/>
          </a:xfrm>
          <a:prstGeom prst="rect">
            <a:avLst/>
          </a:prstGeom>
        </p:spPr>
        <p:txBody>
          <a:bodyPr anchor="t" rtlCol="false" tIns="0" lIns="0" bIns="0" rIns="0">
            <a:spAutoFit/>
          </a:bodyPr>
          <a:lstStyle/>
          <a:p>
            <a:pPr algn="ctr">
              <a:lnSpc>
                <a:spcPts val="4759"/>
              </a:lnSpc>
            </a:pPr>
            <a:r>
              <a:rPr lang="en-US" sz="3399">
                <a:solidFill>
                  <a:srgbClr val="F80C1F"/>
                </a:solidFill>
                <a:latin typeface="Open Sans Light Bold"/>
              </a:rPr>
              <a:t>LED'S</a:t>
            </a:r>
          </a:p>
        </p:txBody>
      </p:sp>
      <p:sp>
        <p:nvSpPr>
          <p:cNvPr name="TextBox 13" id="13"/>
          <p:cNvSpPr txBox="true"/>
          <p:nvPr/>
        </p:nvSpPr>
        <p:spPr>
          <a:xfrm rot="-2127852">
            <a:off x="13973472" y="4778710"/>
            <a:ext cx="2361307" cy="580390"/>
          </a:xfrm>
          <a:prstGeom prst="rect">
            <a:avLst/>
          </a:prstGeom>
        </p:spPr>
        <p:txBody>
          <a:bodyPr anchor="t" rtlCol="false" tIns="0" lIns="0" bIns="0" rIns="0">
            <a:spAutoFit/>
          </a:bodyPr>
          <a:lstStyle/>
          <a:p>
            <a:pPr algn="ctr">
              <a:lnSpc>
                <a:spcPts val="4759"/>
              </a:lnSpc>
            </a:pPr>
            <a:r>
              <a:rPr lang="en-US" sz="3399">
                <a:solidFill>
                  <a:srgbClr val="F80C1F"/>
                </a:solidFill>
                <a:latin typeface="Open Sans Light Bold"/>
              </a:rPr>
              <a:t>IR Sensor</a:t>
            </a:r>
          </a:p>
        </p:txBody>
      </p:sp>
      <p:sp>
        <p:nvSpPr>
          <p:cNvPr name="TextBox 14" id="14"/>
          <p:cNvSpPr txBox="true"/>
          <p:nvPr/>
        </p:nvSpPr>
        <p:spPr>
          <a:xfrm rot="0">
            <a:off x="13199527" y="8273322"/>
            <a:ext cx="2704548" cy="580390"/>
          </a:xfrm>
          <a:prstGeom prst="rect">
            <a:avLst/>
          </a:prstGeom>
        </p:spPr>
        <p:txBody>
          <a:bodyPr anchor="t" rtlCol="false" tIns="0" lIns="0" bIns="0" rIns="0">
            <a:spAutoFit/>
          </a:bodyPr>
          <a:lstStyle/>
          <a:p>
            <a:pPr algn="ctr">
              <a:lnSpc>
                <a:spcPts val="4759"/>
              </a:lnSpc>
            </a:pPr>
            <a:r>
              <a:rPr lang="en-US" sz="3399">
                <a:solidFill>
                  <a:srgbClr val="F80C1F"/>
                </a:solidFill>
                <a:latin typeface="Open Sans Light Bold"/>
              </a:rPr>
              <a:t>LDR Sensor</a:t>
            </a:r>
          </a:p>
        </p:txBody>
      </p:sp>
      <p:grpSp>
        <p:nvGrpSpPr>
          <p:cNvPr name="Group 15" id="15"/>
          <p:cNvGrpSpPr/>
          <p:nvPr/>
        </p:nvGrpSpPr>
        <p:grpSpPr>
          <a:xfrm rot="0">
            <a:off x="567696" y="7316268"/>
            <a:ext cx="2240700" cy="2240700"/>
            <a:chOff x="0" y="0"/>
            <a:chExt cx="6350000" cy="6350000"/>
          </a:xfrm>
        </p:grpSpPr>
        <p:sp>
          <p:nvSpPr>
            <p:cNvPr name="Freeform 16" id="1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C79BF"/>
            </a:solid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FE59A"/>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9881032" cy="1377949"/>
          </a:xfrm>
          <a:prstGeom prst="rect">
            <a:avLst/>
          </a:prstGeom>
        </p:spPr>
        <p:txBody>
          <a:bodyPr anchor="t" rtlCol="false" tIns="0" lIns="0" bIns="0" rIns="0">
            <a:spAutoFit/>
          </a:bodyPr>
          <a:lstStyle/>
          <a:p>
            <a:pPr algn="l">
              <a:lnSpc>
                <a:spcPts val="11200"/>
              </a:lnSpc>
            </a:pPr>
            <a:r>
              <a:rPr lang="en-US" sz="8000">
                <a:solidFill>
                  <a:srgbClr val="000000"/>
                </a:solidFill>
                <a:latin typeface="League Spartan"/>
              </a:rPr>
              <a:t>Application </a:t>
            </a:r>
          </a:p>
        </p:txBody>
      </p:sp>
      <p:grpSp>
        <p:nvGrpSpPr>
          <p:cNvPr name="Group 3" id="3"/>
          <p:cNvGrpSpPr/>
          <p:nvPr/>
        </p:nvGrpSpPr>
        <p:grpSpPr>
          <a:xfrm rot="0">
            <a:off x="0" y="7580654"/>
            <a:ext cx="2706346" cy="2706346"/>
            <a:chOff x="0" y="0"/>
            <a:chExt cx="6350000" cy="6350000"/>
          </a:xfrm>
        </p:grpSpPr>
        <p:sp>
          <p:nvSpPr>
            <p:cNvPr name="Freeform 4" id="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15C68"/>
            </a:solidFill>
          </p:spPr>
        </p:sp>
      </p:grpSp>
      <p:sp>
        <p:nvSpPr>
          <p:cNvPr name="TextBox 5" id="5"/>
          <p:cNvSpPr txBox="true"/>
          <p:nvPr/>
        </p:nvSpPr>
        <p:spPr>
          <a:xfrm rot="0">
            <a:off x="1028700" y="2950845"/>
            <a:ext cx="16230600" cy="6307455"/>
          </a:xfrm>
          <a:prstGeom prst="rect">
            <a:avLst/>
          </a:prstGeom>
        </p:spPr>
        <p:txBody>
          <a:bodyPr anchor="t" rtlCol="false" tIns="0" lIns="0" bIns="0" rIns="0">
            <a:spAutoFit/>
          </a:bodyPr>
          <a:lstStyle/>
          <a:p>
            <a:pPr marL="906780" indent="-453390" lvl="1">
              <a:lnSpc>
                <a:spcPts val="8400"/>
              </a:lnSpc>
              <a:buFont typeface="Arial"/>
              <a:buChar char="•"/>
            </a:pPr>
            <a:r>
              <a:rPr lang="en-US" sz="4200">
                <a:solidFill>
                  <a:srgbClr val="000000"/>
                </a:solidFill>
                <a:latin typeface="Antic"/>
              </a:rPr>
              <a:t>It is used in smart city.</a:t>
            </a:r>
          </a:p>
          <a:p>
            <a:pPr marL="906780" indent="-453390" lvl="1">
              <a:lnSpc>
                <a:spcPts val="8400"/>
              </a:lnSpc>
              <a:buFont typeface="Arial"/>
              <a:buChar char="•"/>
            </a:pPr>
            <a:r>
              <a:rPr lang="en-US" sz="4200">
                <a:solidFill>
                  <a:srgbClr val="000000"/>
                </a:solidFill>
                <a:latin typeface="Antic"/>
              </a:rPr>
              <a:t>It could act as a hub for smart applications.</a:t>
            </a:r>
          </a:p>
          <a:p>
            <a:pPr marL="906780" indent="-453390" lvl="1">
              <a:lnSpc>
                <a:spcPts val="8400"/>
              </a:lnSpc>
              <a:buFont typeface="Arial"/>
              <a:buChar char="•"/>
            </a:pPr>
            <a:r>
              <a:rPr lang="en-US" sz="4200">
                <a:solidFill>
                  <a:srgbClr val="000000"/>
                </a:solidFill>
                <a:latin typeface="Antic"/>
              </a:rPr>
              <a:t>Smart Street lights could be equipped with Radar Sensors which could detect if any object comes near the pole and the light gets brighter.</a:t>
            </a:r>
          </a:p>
          <a:p>
            <a:pPr algn="l" marL="906780" indent="-453390" lvl="1">
              <a:lnSpc>
                <a:spcPts val="8400"/>
              </a:lnSpc>
              <a:buFont typeface="Arial"/>
              <a:buChar char="•"/>
            </a:pPr>
            <a:r>
              <a:rPr lang="en-US" sz="4200">
                <a:solidFill>
                  <a:srgbClr val="000000"/>
                </a:solidFill>
                <a:latin typeface="Antic"/>
              </a:rPr>
              <a:t>It is also used for digital signage.</a:t>
            </a:r>
          </a:p>
        </p:txBody>
      </p:sp>
      <p:grpSp>
        <p:nvGrpSpPr>
          <p:cNvPr name="Group 6" id="6"/>
          <p:cNvGrpSpPr/>
          <p:nvPr/>
        </p:nvGrpSpPr>
        <p:grpSpPr>
          <a:xfrm rot="5400000">
            <a:off x="14476543" y="-551838"/>
            <a:ext cx="1877563" cy="5745350"/>
            <a:chOff x="0" y="0"/>
            <a:chExt cx="2354580" cy="7205024"/>
          </a:xfrm>
        </p:grpSpPr>
        <p:sp>
          <p:nvSpPr>
            <p:cNvPr name="Freeform 7" id="7"/>
            <p:cNvSpPr/>
            <p:nvPr/>
          </p:nvSpPr>
          <p:spPr>
            <a:xfrm>
              <a:off x="0" y="0"/>
              <a:ext cx="2353310" cy="7205024"/>
            </a:xfrm>
            <a:custGeom>
              <a:avLst/>
              <a:gdLst/>
              <a:ahLst/>
              <a:cxnLst/>
              <a:rect r="r" b="b" t="t" l="l"/>
              <a:pathLst>
                <a:path h="7205024" w="2353310">
                  <a:moveTo>
                    <a:pt x="784860" y="7137714"/>
                  </a:moveTo>
                  <a:cubicBezTo>
                    <a:pt x="905510" y="7178354"/>
                    <a:pt x="1042670" y="7205024"/>
                    <a:pt x="1177290" y="7205024"/>
                  </a:cubicBezTo>
                  <a:cubicBezTo>
                    <a:pt x="1311910" y="7205024"/>
                    <a:pt x="1441450" y="7182164"/>
                    <a:pt x="1560830" y="7141524"/>
                  </a:cubicBezTo>
                  <a:cubicBezTo>
                    <a:pt x="1563370" y="7140254"/>
                    <a:pt x="1565910" y="7140254"/>
                    <a:pt x="1568450" y="7138984"/>
                  </a:cubicBezTo>
                  <a:cubicBezTo>
                    <a:pt x="2016760" y="6976424"/>
                    <a:pt x="2346960" y="6547164"/>
                    <a:pt x="2353310" y="6032173"/>
                  </a:cubicBezTo>
                  <a:lnTo>
                    <a:pt x="2353310" y="0"/>
                  </a:lnTo>
                  <a:lnTo>
                    <a:pt x="0" y="0"/>
                  </a:lnTo>
                  <a:lnTo>
                    <a:pt x="0" y="6027567"/>
                  </a:lnTo>
                  <a:cubicBezTo>
                    <a:pt x="6350" y="6549704"/>
                    <a:pt x="331470" y="6978964"/>
                    <a:pt x="784860" y="7137714"/>
                  </a:cubicBezTo>
                  <a:close/>
                </a:path>
              </a:pathLst>
            </a:custGeom>
            <a:solidFill>
              <a:srgbClr val="0A7679"/>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6B9AF6"/>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38547" t="38306" r="38770" b="41128"/>
          <a:stretch>
            <a:fillRect/>
          </a:stretch>
        </p:blipFill>
        <p:spPr>
          <a:xfrm flipH="false" flipV="false" rot="0">
            <a:off x="5335106" y="3200964"/>
            <a:ext cx="7617788" cy="38850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DAFFi0uYZfo</dc:identifier>
  <dcterms:modified xsi:type="dcterms:W3CDTF">2011-08-01T06:04:30Z</dcterms:modified>
  <cp:revision>1</cp:revision>
  <dc:title>EC456 SMART CITY USING IOT TECHNOLOGY</dc:title>
</cp:coreProperties>
</file>